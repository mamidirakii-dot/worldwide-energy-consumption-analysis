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9"/>
  </p:notesMasterIdLst>
  <p:sldIdLst>
    <p:sldId id="256" r:id="rId2"/>
    <p:sldId id="276" r:id="rId3"/>
    <p:sldId id="284" r:id="rId4"/>
    <p:sldId id="289" r:id="rId5"/>
    <p:sldId id="277" r:id="rId6"/>
    <p:sldId id="290" r:id="rId7"/>
    <p:sldId id="292" r:id="rId8"/>
    <p:sldId id="299" r:id="rId9"/>
    <p:sldId id="300" r:id="rId10"/>
    <p:sldId id="301" r:id="rId11"/>
    <p:sldId id="304" r:id="rId12"/>
    <p:sldId id="303" r:id="rId13"/>
    <p:sldId id="302" r:id="rId14"/>
    <p:sldId id="283" r:id="rId15"/>
    <p:sldId id="288" r:id="rId16"/>
    <p:sldId id="305" r:id="rId17"/>
    <p:sldId id="259" r:id="rId18"/>
  </p:sldIdLst>
  <p:sldSz cx="12192000" cy="6858000"/>
  <p:notesSz cx="6858000" cy="9144000"/>
  <p:embeddedFontLst>
    <p:embeddedFont>
      <p:font typeface="Libre Baskerville" panose="02000000000000000000" pitchFamily="2" charset="0"/>
      <p:regular r:id="rId20"/>
      <p:bold r:id="rId21"/>
      <p: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3" roundtripDataSignature="AMtx7mi4HmEECUlll0m8HTY06QsqsmZGGQ=="/>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ithvik Rao Molugu" initials="RM" lastIdx="1" clrIdx="0">
    <p:extLst>
      <p:ext uri="{19B8F6BF-5375-455C-9EA6-DF929625EA0E}">
        <p15:presenceInfo xmlns:p15="http://schemas.microsoft.com/office/powerpoint/2012/main" userId="695562997b34e8e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01"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customschemas.google.com/relationships/presentationmetadata" Target="meta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3D02807F-3B6E-DA60-8BBB-30170225E89D}"/>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06DC9CA2-19D7-C395-CF12-3F1791318BC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C174C3CD-996B-A84D-2F8B-1D5B1A1611B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596769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E04440EA-AC91-019F-0FB6-0139AF824342}"/>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83119113-AB57-9769-5050-99FE2EE5142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A9FFF99A-EB75-D21F-ACD4-0822807BB4D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505975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D4C164B1-970C-71E7-BCB8-4751767751FC}"/>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214FC451-6E92-0122-C802-306B71D01A5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90D61FBB-3B12-2F64-DC7B-640B0DF6FA4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039157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A41ECD00-773F-C2AD-13B3-54073A71A5A3}"/>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132AF7BA-8FEC-FB4F-3D08-ADCA3902970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81B5AE07-AE33-A0F1-0124-3A15A28F8B2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66975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A563C4FD-4FF6-EE23-1D8A-8AFA7339E088}"/>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56954129-A75C-DECA-0819-43FBC0D3C9A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88487A13-F44C-979A-0CCA-86AA464D90F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814299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5A8C5505-E3AE-0D4D-A875-AD1F2456AE2A}"/>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6EF09578-40BB-0DCE-FF88-2A8DDF67700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260B54FE-33B2-C5A2-FFAF-7D3AF979A2A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641118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C16C0297-7760-025E-C436-0AC833A55F1B}"/>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1BBD65EF-AEC2-2740-0931-C10D335B5B0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C7896E8E-5B5A-93D9-702F-B25DFD73B11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090098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A320C089-7CBF-43FC-08F9-60B55E09BB0B}"/>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434B2461-CE79-C3A4-C21C-01E3F5DCBDD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35749573-B819-1E07-DED7-C7A770DB7C6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631282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56D326D9-FFA5-EF2E-4BB2-37B74C08C9FD}"/>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22C8774E-595E-AA56-C8FE-B4F418739DC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DD810EC2-5634-F82A-8976-8853C80818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108919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F2FAE21C-7668-3AEF-791B-5DB2F070E020}"/>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78B8FB47-62F2-C5DE-FD19-87900E53DA9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95F1EEFE-B3C1-865A-77A5-CE7904F2B31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329349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85D38060-5B5E-3F40-130C-DE737D262CED}"/>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A262DFD1-B829-C698-8C8F-5AE35B2601B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BDA65ECD-94E4-FF9C-64C9-4F1147A930C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604368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23FABCDF-5D65-C321-06B9-3386D07DAB6F}"/>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BC75384E-BB3F-E1C7-F7F4-E100D4569DF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1A589A88-6EFE-3CAB-843E-41FEF4B2990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100374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B0263647-4B44-49DA-1BF2-95D93201DF8E}"/>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9C9213D3-EF6C-BE6C-01FD-556088A4622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8224254E-30DD-4624-83D4-BDF2B6CEDEE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671590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2832F0E4-8A06-2E53-25C2-9543C1AD6687}"/>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10E3C766-84C2-0BD1-785E-8AF0A7A0BDA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4FB161ED-D142-AFF6-7C1E-A5E7D97E4AA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338335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20472" y="51054"/>
            <a:ext cx="12191407" cy="6858000"/>
          </a:xfrm>
          <a:prstGeom prst="rect">
            <a:avLst/>
          </a:prstGeom>
          <a:noFill/>
          <a:ln>
            <a:noFill/>
          </a:ln>
        </p:spPr>
      </p:pic>
      <p:sp>
        <p:nvSpPr>
          <p:cNvPr id="99" name="Google Shape;99;p1"/>
          <p:cNvSpPr txBox="1"/>
          <p:nvPr/>
        </p:nvSpPr>
        <p:spPr>
          <a:xfrm>
            <a:off x="2129052" y="3800834"/>
            <a:ext cx="8366077" cy="615513"/>
          </a:xfrm>
          <a:prstGeom prst="rect">
            <a:avLst/>
          </a:prstGeom>
          <a:noFill/>
          <a:ln>
            <a:noFill/>
          </a:ln>
        </p:spPr>
        <p:txBody>
          <a:bodyPr spcFirstLastPara="1" wrap="square" lIns="91425" tIns="45700" rIns="91425" bIns="45700" anchor="t" anchorCtr="0">
            <a:spAutoFit/>
          </a:bodyPr>
          <a:lstStyle/>
          <a:p>
            <a:pPr lvl="0" algn="ctr">
              <a:buSzPts val="1800"/>
            </a:pPr>
            <a:r>
              <a:rPr lang="en-IN" sz="34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“Worldwide Energy Consumption Analysis</a:t>
            </a:r>
            <a:r>
              <a:rPr lang="en-IN" sz="3400" dirty="0">
                <a:solidFill>
                  <a:schemeClr val="dk1"/>
                </a:solidFill>
                <a:latin typeface="Times New Roman" panose="02020603050405020304" pitchFamily="18" charset="0"/>
                <a:ea typeface="Calibri"/>
                <a:cs typeface="Times New Roman" panose="02020603050405020304" pitchFamily="18" charset="0"/>
                <a:sym typeface="Calibri"/>
              </a:rPr>
              <a:t>”</a:t>
            </a:r>
          </a:p>
        </p:txBody>
      </p:sp>
      <p:sp>
        <p:nvSpPr>
          <p:cNvPr id="2" name="Google Shape;99;p1">
            <a:extLst>
              <a:ext uri="{FF2B5EF4-FFF2-40B4-BE49-F238E27FC236}">
                <a16:creationId xmlns:a16="http://schemas.microsoft.com/office/drawing/2014/main" id="{449144FF-29B1-35F0-28F4-BD4EE11051C4}"/>
              </a:ext>
            </a:extLst>
          </p:cNvPr>
          <p:cNvSpPr txBox="1"/>
          <p:nvPr/>
        </p:nvSpPr>
        <p:spPr>
          <a:xfrm>
            <a:off x="8318310" y="5154889"/>
            <a:ext cx="2176819" cy="1015622"/>
          </a:xfrm>
          <a:prstGeom prst="rect">
            <a:avLst/>
          </a:prstGeom>
          <a:noFill/>
          <a:ln>
            <a:noFill/>
          </a:ln>
        </p:spPr>
        <p:txBody>
          <a:bodyPr spcFirstLastPara="1" wrap="square" lIns="91425" tIns="45700" rIns="91425" bIns="45700" anchor="t" anchorCtr="0">
            <a:spAutoFit/>
          </a:bodyPr>
          <a:lstStyle/>
          <a:p>
            <a:pPr>
              <a:buSzPts val="1800"/>
            </a:pPr>
            <a:r>
              <a:rPr lang="en-IN" sz="2000" dirty="0">
                <a:solidFill>
                  <a:schemeClr val="dk1"/>
                </a:solidFill>
                <a:latin typeface="Times New Roman" panose="02020603050405020304" pitchFamily="18" charset="0"/>
                <a:ea typeface="Calibri"/>
                <a:cs typeface="Times New Roman" panose="02020603050405020304" pitchFamily="18" charset="0"/>
                <a:sym typeface="Calibri"/>
              </a:rPr>
              <a:t>Batch No: 450</a:t>
            </a:r>
          </a:p>
          <a:p>
            <a:pPr marL="342900" marR="0" lvl="0" indent="-342900" algn="just" rtl="0">
              <a:lnSpc>
                <a:spcPct val="100000"/>
              </a:lnSpc>
              <a:spcBef>
                <a:spcPts val="0"/>
              </a:spcBef>
              <a:spcAft>
                <a:spcPts val="0"/>
              </a:spcAft>
              <a:buClr>
                <a:srgbClr val="000000"/>
              </a:buClr>
              <a:buSzPts val="1800"/>
              <a:buFontTx/>
              <a:buChar char="-"/>
            </a:pPr>
            <a:r>
              <a:rPr lang="en-IN" sz="2000" dirty="0">
                <a:solidFill>
                  <a:schemeClr val="dk1"/>
                </a:solidFill>
                <a:latin typeface="Times New Roman" panose="02020603050405020304" pitchFamily="18" charset="0"/>
                <a:ea typeface="Calibri"/>
                <a:cs typeface="Times New Roman" panose="02020603050405020304" pitchFamily="18" charset="0"/>
                <a:sym typeface="Calibri"/>
              </a:rPr>
              <a:t>M. Rithvik</a:t>
            </a:r>
          </a:p>
          <a:p>
            <a:pPr marL="342900" marR="0" lvl="0" indent="-342900" algn="just" rtl="0">
              <a:lnSpc>
                <a:spcPct val="100000"/>
              </a:lnSpc>
              <a:spcBef>
                <a:spcPts val="0"/>
              </a:spcBef>
              <a:spcAft>
                <a:spcPts val="0"/>
              </a:spcAft>
              <a:buClr>
                <a:srgbClr val="000000"/>
              </a:buClr>
              <a:buSzPts val="1800"/>
              <a:buFontTx/>
              <a:buChar char="-"/>
            </a:pPr>
            <a:r>
              <a:rPr lang="en-IN" sz="2000" dirty="0">
                <a:solidFill>
                  <a:schemeClr val="dk1"/>
                </a:solidFill>
                <a:latin typeface="Times New Roman" panose="02020603050405020304" pitchFamily="18" charset="0"/>
                <a:ea typeface="Calibri"/>
                <a:cs typeface="Times New Roman" panose="02020603050405020304" pitchFamily="18" charset="0"/>
                <a:sym typeface="Calibri"/>
              </a:rPr>
              <a:t>Mamidi Rakesh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8A01FA04-A69A-48FC-6EF7-DD2260F7F38E}"/>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9C53CB75-C2C5-27A0-7C35-89D74E8C1939}"/>
              </a:ext>
            </a:extLst>
          </p:cNvPr>
          <p:cNvSpPr txBox="1">
            <a:spLocks noGrp="1"/>
          </p:cNvSpPr>
          <p:nvPr>
            <p:ph type="title"/>
          </p:nvPr>
        </p:nvSpPr>
        <p:spPr>
          <a:xfrm>
            <a:off x="0" y="14944"/>
            <a:ext cx="12192000" cy="81478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4400"/>
              <a:buFont typeface="Calibri"/>
              <a:buNone/>
            </a:pPr>
            <a:r>
              <a:rPr lang="en-IN" sz="3800" b="1" dirty="0">
                <a:solidFill>
                  <a:srgbClr val="FF0000"/>
                </a:solidFill>
                <a:latin typeface="Times New Roman" panose="02020603050405020304" pitchFamily="18" charset="0"/>
                <a:cs typeface="Times New Roman" panose="02020603050405020304" pitchFamily="18" charset="0"/>
              </a:rPr>
              <a:t>Agenda</a:t>
            </a:r>
            <a:endParaRPr sz="3800" b="1" dirty="0">
              <a:solidFill>
                <a:srgbClr val="FF0000"/>
              </a:solidFill>
              <a:latin typeface="Times New Roman" panose="02020603050405020304" pitchFamily="18" charset="0"/>
              <a:cs typeface="Times New Roman" panose="02020603050405020304" pitchFamily="18" charset="0"/>
            </a:endParaRPr>
          </a:p>
        </p:txBody>
      </p:sp>
      <p:sp>
        <p:nvSpPr>
          <p:cNvPr id="111" name="Google Shape;111;p4">
            <a:extLst>
              <a:ext uri="{FF2B5EF4-FFF2-40B4-BE49-F238E27FC236}">
                <a16:creationId xmlns:a16="http://schemas.microsoft.com/office/drawing/2014/main" id="{14A93F5B-9880-9C20-3277-F063CBAE4342}"/>
              </a:ext>
            </a:extLst>
          </p:cNvPr>
          <p:cNvSpPr txBox="1">
            <a:spLocks noGrp="1"/>
          </p:cNvSpPr>
          <p:nvPr>
            <p:ph type="body" idx="1"/>
          </p:nvPr>
        </p:nvSpPr>
        <p:spPr>
          <a:xfrm>
            <a:off x="442793" y="777922"/>
            <a:ext cx="7916461" cy="5902658"/>
          </a:xfrm>
          <a:prstGeom prst="rect">
            <a:avLst/>
          </a:prstGeom>
          <a:noFill/>
          <a:ln>
            <a:noFill/>
          </a:ln>
        </p:spPr>
        <p:txBody>
          <a:bodyPr spcFirstLastPara="1" wrap="square" lIns="91425" tIns="45700" rIns="91425" bIns="45700" anchor="t" anchorCtr="0">
            <a:noAutofit/>
          </a:bodyPr>
          <a:lstStyle/>
          <a:p>
            <a:pPr algn="just">
              <a:lnSpc>
                <a:spcPct val="100000"/>
              </a:lnSpc>
            </a:pPr>
            <a:r>
              <a:rPr lang="en-US" sz="2200" dirty="0">
                <a:latin typeface="Times New Roman" panose="02020603050405020304" pitchFamily="18" charset="0"/>
                <a:cs typeface="Times New Roman" panose="02020603050405020304" pitchFamily="18" charset="0"/>
              </a:rPr>
              <a:t>Business Problem</a:t>
            </a:r>
          </a:p>
          <a:p>
            <a:pPr algn="just">
              <a:lnSpc>
                <a:spcPct val="100000"/>
              </a:lnSpc>
            </a:pPr>
            <a:r>
              <a:rPr lang="en-US" sz="2200" dirty="0">
                <a:latin typeface="Times New Roman" panose="02020603050405020304" pitchFamily="18" charset="0"/>
                <a:cs typeface="Times New Roman" panose="02020603050405020304" pitchFamily="18" charset="0"/>
              </a:rPr>
              <a:t>Problem Statement</a:t>
            </a:r>
          </a:p>
          <a:p>
            <a:pPr algn="just">
              <a:lnSpc>
                <a:spcPct val="100000"/>
              </a:lnSpc>
            </a:pPr>
            <a:r>
              <a:rPr lang="en-US" sz="2200" dirty="0">
                <a:latin typeface="Times New Roman" panose="02020603050405020304" pitchFamily="18" charset="0"/>
                <a:cs typeface="Times New Roman" panose="02020603050405020304" pitchFamily="18" charset="0"/>
              </a:rPr>
              <a:t>Objectives</a:t>
            </a:r>
          </a:p>
          <a:p>
            <a:pPr algn="just">
              <a:lnSpc>
                <a:spcPct val="100000"/>
              </a:lnSpc>
            </a:pPr>
            <a:r>
              <a:rPr lang="en-US" sz="2200" dirty="0">
                <a:latin typeface="Times New Roman" panose="02020603050405020304" pitchFamily="18" charset="0"/>
                <a:cs typeface="Times New Roman" panose="02020603050405020304" pitchFamily="18" charset="0"/>
              </a:rPr>
              <a:t>Entity Relationship Structure</a:t>
            </a:r>
          </a:p>
          <a:p>
            <a:pPr algn="just">
              <a:lnSpc>
                <a:spcPct val="100000"/>
              </a:lnSpc>
            </a:pPr>
            <a:r>
              <a:rPr lang="en-IN" sz="2200" dirty="0">
                <a:latin typeface="Times New Roman" panose="02020603050405020304" pitchFamily="18" charset="0"/>
                <a:cs typeface="Times New Roman" panose="02020603050405020304" pitchFamily="18" charset="0"/>
              </a:rPr>
              <a:t>General &amp; Comparative Analysis</a:t>
            </a:r>
          </a:p>
          <a:p>
            <a:pPr algn="just">
              <a:lnSpc>
                <a:spcPct val="100000"/>
              </a:lnSpc>
            </a:pPr>
            <a:r>
              <a:rPr lang="en-IN" sz="2200" dirty="0">
                <a:latin typeface="Times New Roman" panose="02020603050405020304" pitchFamily="18" charset="0"/>
                <a:cs typeface="Times New Roman" panose="02020603050405020304" pitchFamily="18" charset="0"/>
              </a:rPr>
              <a:t>Trend Analysis Over Time</a:t>
            </a:r>
          </a:p>
          <a:p>
            <a:pPr algn="just">
              <a:lnSpc>
                <a:spcPct val="100000"/>
              </a:lnSpc>
            </a:pPr>
            <a:r>
              <a:rPr lang="en-IN" sz="2200" dirty="0">
                <a:latin typeface="Times New Roman" panose="02020603050405020304" pitchFamily="18" charset="0"/>
                <a:cs typeface="Times New Roman" panose="02020603050405020304" pitchFamily="18" charset="0"/>
              </a:rPr>
              <a:t>Ratio &amp; Per Capita Analysis</a:t>
            </a:r>
          </a:p>
          <a:p>
            <a:pPr algn="just">
              <a:lnSpc>
                <a:spcPct val="100000"/>
              </a:lnSpc>
            </a:pPr>
            <a:r>
              <a:rPr lang="en-IN" sz="2200" dirty="0">
                <a:latin typeface="Times New Roman" panose="02020603050405020304" pitchFamily="18" charset="0"/>
                <a:cs typeface="Times New Roman" panose="02020603050405020304" pitchFamily="18" charset="0"/>
              </a:rPr>
              <a:t>Global Comparisons</a:t>
            </a:r>
            <a:endParaRPr lang="en-US" sz="2200" dirty="0">
              <a:latin typeface="Times New Roman" panose="02020603050405020304" pitchFamily="18" charset="0"/>
              <a:cs typeface="Times New Roman" panose="02020603050405020304" pitchFamily="18" charset="0"/>
            </a:endParaRPr>
          </a:p>
          <a:p>
            <a:pPr algn="just">
              <a:lnSpc>
                <a:spcPct val="100000"/>
              </a:lnSpc>
            </a:pPr>
            <a:r>
              <a:rPr lang="en-IN" sz="2200" dirty="0">
                <a:latin typeface="Times New Roman" panose="02020603050405020304" pitchFamily="18" charset="0"/>
                <a:cs typeface="Times New Roman" panose="02020603050405020304" pitchFamily="18" charset="0"/>
              </a:rPr>
              <a:t>Recommendations</a:t>
            </a:r>
            <a:endParaRPr lang="en-IN" sz="2200" b="1" dirty="0">
              <a:solidFill>
                <a:srgbClr val="FF0000"/>
              </a:solidFill>
              <a:latin typeface="Times New Roman" panose="02020603050405020304" pitchFamily="18" charset="0"/>
              <a:cs typeface="Times New Roman" panose="02020603050405020304" pitchFamily="18" charset="0"/>
            </a:endParaRPr>
          </a:p>
          <a:p>
            <a:pPr algn="just">
              <a:lnSpc>
                <a:spcPct val="100000"/>
              </a:lnSpc>
            </a:pPr>
            <a:r>
              <a:rPr lang="en-IN" sz="2200" dirty="0">
                <a:latin typeface="Times New Roman" panose="02020603050405020304" pitchFamily="18" charset="0"/>
                <a:cs typeface="Times New Roman" panose="02020603050405020304" pitchFamily="18" charset="0"/>
              </a:rPr>
              <a:t>Conclusion</a:t>
            </a: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79811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347BBD32-101E-3CEF-3324-98D7E73FB85F}"/>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B5F86DC6-9BB5-7542-AA7A-FA4FC1F5FABD}"/>
              </a:ext>
            </a:extLst>
          </p:cNvPr>
          <p:cNvSpPr txBox="1">
            <a:spLocks noGrp="1"/>
          </p:cNvSpPr>
          <p:nvPr>
            <p:ph type="title"/>
          </p:nvPr>
        </p:nvSpPr>
        <p:spPr>
          <a:xfrm>
            <a:off x="0" y="23411"/>
            <a:ext cx="12192000" cy="81478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4400"/>
              <a:buFont typeface="Calibri"/>
              <a:buNone/>
            </a:pPr>
            <a:r>
              <a:rPr lang="en-US" sz="3800" b="1" dirty="0">
                <a:solidFill>
                  <a:srgbClr val="FF0000"/>
                </a:solidFill>
                <a:latin typeface="Times New Roman" panose="02020603050405020304" pitchFamily="18" charset="0"/>
                <a:cs typeface="Times New Roman" panose="02020603050405020304" pitchFamily="18" charset="0"/>
              </a:rPr>
              <a:t>Business</a:t>
            </a:r>
            <a:r>
              <a:rPr lang="en-IN" sz="3800" b="1" dirty="0">
                <a:solidFill>
                  <a:srgbClr val="FF0000"/>
                </a:solidFill>
                <a:latin typeface="Times New Roman" panose="02020603050405020304" pitchFamily="18" charset="0"/>
                <a:cs typeface="Times New Roman" panose="02020603050405020304" pitchFamily="18" charset="0"/>
              </a:rPr>
              <a:t> Problem</a:t>
            </a:r>
            <a:endParaRPr sz="3800" b="1" dirty="0">
              <a:solidFill>
                <a:srgbClr val="FF0000"/>
              </a:solidFill>
              <a:latin typeface="Times New Roman" panose="02020603050405020304" pitchFamily="18" charset="0"/>
              <a:cs typeface="Times New Roman" panose="02020603050405020304" pitchFamily="18" charset="0"/>
            </a:endParaRPr>
          </a:p>
        </p:txBody>
      </p:sp>
      <p:sp>
        <p:nvSpPr>
          <p:cNvPr id="111" name="Google Shape;111;p4">
            <a:extLst>
              <a:ext uri="{FF2B5EF4-FFF2-40B4-BE49-F238E27FC236}">
                <a16:creationId xmlns:a16="http://schemas.microsoft.com/office/drawing/2014/main" id="{9EAEA361-6E29-090E-5698-C4DDD8CC51C7}"/>
              </a:ext>
            </a:extLst>
          </p:cNvPr>
          <p:cNvSpPr txBox="1">
            <a:spLocks noGrp="1"/>
          </p:cNvSpPr>
          <p:nvPr>
            <p:ph type="body" idx="1"/>
          </p:nvPr>
        </p:nvSpPr>
        <p:spPr>
          <a:xfrm>
            <a:off x="93132" y="838200"/>
            <a:ext cx="12005733" cy="1845732"/>
          </a:xfrm>
          <a:prstGeom prst="rect">
            <a:avLst/>
          </a:prstGeom>
          <a:noFill/>
          <a:ln>
            <a:noFill/>
          </a:ln>
        </p:spPr>
        <p:txBody>
          <a:bodyPr spcFirstLastPara="1" wrap="square" lIns="91425" tIns="45700" rIns="91425" bIns="45700" anchor="t" anchorCtr="0">
            <a:noAutofit/>
          </a:bodyPr>
          <a:lstStyle/>
          <a:p>
            <a:pPr algn="just">
              <a:lnSpc>
                <a:spcPct val="100000"/>
              </a:lnSpc>
            </a:pPr>
            <a:r>
              <a:rPr lang="en-US" sz="2200" dirty="0">
                <a:latin typeface="Times New Roman" panose="02020603050405020304" pitchFamily="18" charset="0"/>
                <a:cs typeface="Times New Roman" panose="02020603050405020304" pitchFamily="18" charset="0"/>
              </a:rPr>
              <a:t>Countries are experiencing increase in energy demand, economic growth, and rising carbon emissions, creating challenges in maintaining environmental sustainability.</a:t>
            </a:r>
          </a:p>
          <a:p>
            <a:pPr algn="just">
              <a:lnSpc>
                <a:spcPct val="100000"/>
              </a:lnSpc>
            </a:pPr>
            <a:r>
              <a:rPr lang="en-US" sz="2200" dirty="0">
                <a:latin typeface="Times New Roman" panose="02020603050405020304" pitchFamily="18" charset="0"/>
                <a:cs typeface="Times New Roman" panose="02020603050405020304" pitchFamily="18" charset="0"/>
              </a:rPr>
              <a:t>There is a need to analyze how energy production, consumption, GDP, and population are interconnected to support better policy and strategic decisions</a:t>
            </a:r>
            <a:r>
              <a:rPr lang="en-US" sz="2400" dirty="0">
                <a:latin typeface="Times New Roman" panose="02020603050405020304" pitchFamily="18" charset="0"/>
                <a:cs typeface="Times New Roman" panose="02020603050405020304" pitchFamily="18" charset="0"/>
              </a:rPr>
              <a:t>.</a:t>
            </a:r>
          </a:p>
        </p:txBody>
      </p:sp>
      <p:sp>
        <p:nvSpPr>
          <p:cNvPr id="4" name="Google Shape;110;p4">
            <a:extLst>
              <a:ext uri="{FF2B5EF4-FFF2-40B4-BE49-F238E27FC236}">
                <a16:creationId xmlns:a16="http://schemas.microsoft.com/office/drawing/2014/main" id="{8E2D18A1-3D60-64A0-2AA4-96D4E8A7F6DF}"/>
              </a:ext>
            </a:extLst>
          </p:cNvPr>
          <p:cNvSpPr txBox="1">
            <a:spLocks/>
          </p:cNvSpPr>
          <p:nvPr/>
        </p:nvSpPr>
        <p:spPr>
          <a:xfrm>
            <a:off x="0" y="2773575"/>
            <a:ext cx="12192000" cy="814789"/>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rgbClr val="FF0000"/>
              </a:buClr>
              <a:buSzPts val="4400"/>
            </a:pPr>
            <a:r>
              <a:rPr lang="en-US" sz="3800" b="1" dirty="0">
                <a:solidFill>
                  <a:srgbClr val="FF0000"/>
                </a:solidFill>
                <a:latin typeface="Times New Roman" panose="02020603050405020304" pitchFamily="18" charset="0"/>
                <a:cs typeface="Times New Roman" panose="02020603050405020304" pitchFamily="18" charset="0"/>
              </a:rPr>
              <a:t>Problem Statement</a:t>
            </a:r>
          </a:p>
        </p:txBody>
      </p:sp>
      <p:sp>
        <p:nvSpPr>
          <p:cNvPr id="6" name="Google Shape;111;p4">
            <a:extLst>
              <a:ext uri="{FF2B5EF4-FFF2-40B4-BE49-F238E27FC236}">
                <a16:creationId xmlns:a16="http://schemas.microsoft.com/office/drawing/2014/main" id="{C9A638DC-3860-2AA3-7CBA-ED42C838A877}"/>
              </a:ext>
            </a:extLst>
          </p:cNvPr>
          <p:cNvSpPr txBox="1">
            <a:spLocks/>
          </p:cNvSpPr>
          <p:nvPr/>
        </p:nvSpPr>
        <p:spPr>
          <a:xfrm>
            <a:off x="0" y="3588364"/>
            <a:ext cx="12005733" cy="276711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lgn="just">
              <a:lnSpc>
                <a:spcPct val="100000"/>
              </a:lnSpc>
            </a:pPr>
            <a:r>
              <a:rPr lang="en-US" sz="2200" dirty="0">
                <a:latin typeface="Times New Roman" panose="02020603050405020304" pitchFamily="18" charset="0"/>
                <a:cs typeface="Times New Roman" panose="02020603050405020304" pitchFamily="18" charset="0"/>
              </a:rPr>
              <a:t>This project analyzes global energy consumption, production, emissions, GDP, and population data using SQL.</a:t>
            </a:r>
          </a:p>
          <a:p>
            <a:pPr algn="just">
              <a:lnSpc>
                <a:spcPct val="100000"/>
              </a:lnSpc>
            </a:pPr>
            <a:r>
              <a:rPr lang="en-US" sz="2200" dirty="0">
                <a:latin typeface="Times New Roman" panose="02020603050405020304" pitchFamily="18" charset="0"/>
                <a:cs typeface="Times New Roman" panose="02020603050405020304" pitchFamily="18" charset="0"/>
              </a:rPr>
              <a:t>It tries to identify trends, compare countries, and calculate key ratios such as emission-to-GDP and per capita metrics.</a:t>
            </a:r>
          </a:p>
          <a:p>
            <a:pPr algn="just">
              <a:lnSpc>
                <a:spcPct val="100000"/>
              </a:lnSpc>
            </a:pPr>
            <a:r>
              <a:rPr lang="en-US" sz="2200" dirty="0">
                <a:latin typeface="Times New Roman" panose="02020603050405020304" pitchFamily="18" charset="0"/>
                <a:cs typeface="Times New Roman" panose="02020603050405020304" pitchFamily="18" charset="0"/>
              </a:rPr>
              <a:t>Understanding the relationship between economic growth and environmental impact for sustainable development insights.</a:t>
            </a:r>
          </a:p>
        </p:txBody>
      </p:sp>
    </p:spTree>
    <p:extLst>
      <p:ext uri="{BB962C8B-B14F-4D97-AF65-F5344CB8AC3E}">
        <p14:creationId xmlns:p14="http://schemas.microsoft.com/office/powerpoint/2010/main" val="31195342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38007DB-A3B0-CC2D-2A52-CDA5FD3B8703}"/>
              </a:ext>
            </a:extLst>
          </p:cNvPr>
          <p:cNvSpPr>
            <a:spLocks noGrp="1"/>
          </p:cNvSpPr>
          <p:nvPr>
            <p:ph type="body" idx="1"/>
          </p:nvPr>
        </p:nvSpPr>
        <p:spPr>
          <a:xfrm>
            <a:off x="214382" y="892151"/>
            <a:ext cx="10958015" cy="4812187"/>
          </a:xfrm>
        </p:spPr>
        <p:txBody>
          <a:bodyPr>
            <a:normAutofit/>
          </a:bodyPr>
          <a:lstStyle/>
          <a:p>
            <a:pPr algn="just">
              <a:lnSpc>
                <a:spcPct val="100000"/>
              </a:lnSpc>
            </a:pPr>
            <a:r>
              <a:rPr lang="en-US" sz="2200" dirty="0">
                <a:latin typeface="Times New Roman" panose="02020603050405020304" pitchFamily="18" charset="0"/>
                <a:cs typeface="Times New Roman" panose="02020603050405020304" pitchFamily="18" charset="0"/>
              </a:rPr>
              <a:t>To analyze total energy consumption and production patterns across different countries.</a:t>
            </a:r>
          </a:p>
          <a:p>
            <a:pPr algn="just">
              <a:lnSpc>
                <a:spcPct val="100000"/>
              </a:lnSpc>
            </a:pPr>
            <a:r>
              <a:rPr lang="en-US" sz="2200" dirty="0">
                <a:latin typeface="Times New Roman" panose="02020603050405020304" pitchFamily="18" charset="0"/>
                <a:cs typeface="Times New Roman" panose="02020603050405020304" pitchFamily="18" charset="0"/>
              </a:rPr>
              <a:t>To evaluate carbon emissions trends and identify major emitting countries.</a:t>
            </a:r>
          </a:p>
          <a:p>
            <a:pPr algn="just">
              <a:lnSpc>
                <a:spcPct val="100000"/>
              </a:lnSpc>
            </a:pPr>
            <a:r>
              <a:rPr lang="en-US" sz="2200" dirty="0">
                <a:latin typeface="Times New Roman" panose="02020603050405020304" pitchFamily="18" charset="0"/>
                <a:cs typeface="Times New Roman" panose="02020603050405020304" pitchFamily="18" charset="0"/>
              </a:rPr>
              <a:t>To study the relationship between GDP growth and energy usage over time.</a:t>
            </a:r>
          </a:p>
          <a:p>
            <a:pPr algn="just">
              <a:lnSpc>
                <a:spcPct val="100000"/>
              </a:lnSpc>
            </a:pPr>
            <a:r>
              <a:rPr lang="en-US" sz="2200" dirty="0">
                <a:latin typeface="Times New Roman" panose="02020603050405020304" pitchFamily="18" charset="0"/>
                <a:cs typeface="Times New Roman" panose="02020603050405020304" pitchFamily="18" charset="0"/>
              </a:rPr>
              <a:t>To calculate and compare emission-to-GDP and per capita metrics for better efficiency analysis.</a:t>
            </a:r>
          </a:p>
          <a:p>
            <a:pPr algn="just">
              <a:lnSpc>
                <a:spcPct val="100000"/>
              </a:lnSpc>
            </a:pPr>
            <a:r>
              <a:rPr lang="en-US" sz="2200" dirty="0">
                <a:latin typeface="Times New Roman" panose="02020603050405020304" pitchFamily="18" charset="0"/>
                <a:cs typeface="Times New Roman" panose="02020603050405020304" pitchFamily="18" charset="0"/>
              </a:rPr>
              <a:t>To examine how population growth impacts total energy consumption and emissions.</a:t>
            </a:r>
          </a:p>
          <a:p>
            <a:pPr algn="just">
              <a:lnSpc>
                <a:spcPct val="100000"/>
              </a:lnSpc>
            </a:pPr>
            <a:r>
              <a:rPr lang="en-US" sz="2200" dirty="0">
                <a:latin typeface="Times New Roman" panose="02020603050405020304" pitchFamily="18" charset="0"/>
                <a:cs typeface="Times New Roman" panose="02020603050405020304" pitchFamily="18" charset="0"/>
              </a:rPr>
              <a:t>To derive meaningful insights that support sustainable development and energy policy decisions.</a:t>
            </a:r>
          </a:p>
        </p:txBody>
      </p:sp>
      <p:sp>
        <p:nvSpPr>
          <p:cNvPr id="4" name="Google Shape;110;p4">
            <a:extLst>
              <a:ext uri="{FF2B5EF4-FFF2-40B4-BE49-F238E27FC236}">
                <a16:creationId xmlns:a16="http://schemas.microsoft.com/office/drawing/2014/main" id="{5F45ADD9-EC5D-371A-75A8-DF7E46F2378D}"/>
              </a:ext>
            </a:extLst>
          </p:cNvPr>
          <p:cNvSpPr txBox="1">
            <a:spLocks noGrp="1"/>
          </p:cNvSpPr>
          <p:nvPr>
            <p:ph type="title"/>
          </p:nvPr>
        </p:nvSpPr>
        <p:spPr>
          <a:xfrm>
            <a:off x="435590" y="0"/>
            <a:ext cx="10515600" cy="917765"/>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rgbClr val="FF0000"/>
              </a:buClr>
              <a:buSzPts val="4400"/>
            </a:pPr>
            <a:r>
              <a:rPr lang="en-US" sz="3800" b="1" dirty="0">
                <a:solidFill>
                  <a:srgbClr val="FF0000"/>
                </a:solidFill>
                <a:latin typeface="Times New Roman" panose="02020603050405020304" pitchFamily="18" charset="0"/>
                <a:cs typeface="Times New Roman" panose="02020603050405020304" pitchFamily="18" charset="0"/>
              </a:rPr>
              <a:t>Objective</a:t>
            </a:r>
          </a:p>
        </p:txBody>
      </p:sp>
    </p:spTree>
    <p:extLst>
      <p:ext uri="{BB962C8B-B14F-4D97-AF65-F5344CB8AC3E}">
        <p14:creationId xmlns:p14="http://schemas.microsoft.com/office/powerpoint/2010/main" val="18657333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AFD15591-8875-7A83-BFDC-96225B27B82C}"/>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9E9F9769-3A23-909C-4DAA-D7F1B4213766}"/>
              </a:ext>
            </a:extLst>
          </p:cNvPr>
          <p:cNvSpPr txBox="1">
            <a:spLocks noGrp="1"/>
          </p:cNvSpPr>
          <p:nvPr>
            <p:ph type="title"/>
          </p:nvPr>
        </p:nvSpPr>
        <p:spPr>
          <a:xfrm>
            <a:off x="0" y="0"/>
            <a:ext cx="12192000" cy="81478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4400"/>
              <a:buFont typeface="Calibri"/>
              <a:buNone/>
            </a:pPr>
            <a:r>
              <a:rPr lang="en-IN" sz="3800" b="1" dirty="0">
                <a:solidFill>
                  <a:srgbClr val="FF0000"/>
                </a:solidFill>
                <a:latin typeface="Times New Roman" panose="02020603050405020304" pitchFamily="18" charset="0"/>
                <a:cs typeface="Times New Roman" panose="02020603050405020304" pitchFamily="18" charset="0"/>
              </a:rPr>
              <a:t>Entity Relationship Structure</a:t>
            </a:r>
            <a:endParaRPr sz="3800" b="1" dirty="0">
              <a:solidFill>
                <a:srgbClr val="FF0000"/>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E59433A9-A6B7-2E9D-E554-BD7D681F2D4B}"/>
              </a:ext>
            </a:extLst>
          </p:cNvPr>
          <p:cNvPicPr>
            <a:picLocks noChangeAspect="1"/>
          </p:cNvPicPr>
          <p:nvPr/>
        </p:nvPicPr>
        <p:blipFill>
          <a:blip r:embed="rId3"/>
          <a:srcRect/>
          <a:stretch/>
        </p:blipFill>
        <p:spPr>
          <a:xfrm>
            <a:off x="7332958" y="1346201"/>
            <a:ext cx="4700621" cy="3835400"/>
          </a:xfrm>
          <a:prstGeom prst="rect">
            <a:avLst/>
          </a:prstGeom>
        </p:spPr>
      </p:pic>
      <p:sp>
        <p:nvSpPr>
          <p:cNvPr id="6" name="Google Shape;111;p4">
            <a:extLst>
              <a:ext uri="{FF2B5EF4-FFF2-40B4-BE49-F238E27FC236}">
                <a16:creationId xmlns:a16="http://schemas.microsoft.com/office/drawing/2014/main" id="{3484C654-D4F9-6549-6D31-57CCAB316DFF}"/>
              </a:ext>
            </a:extLst>
          </p:cNvPr>
          <p:cNvSpPr txBox="1">
            <a:spLocks/>
          </p:cNvSpPr>
          <p:nvPr/>
        </p:nvSpPr>
        <p:spPr>
          <a:xfrm>
            <a:off x="65288" y="1077256"/>
            <a:ext cx="7137400" cy="569111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lgn="just">
              <a:lnSpc>
                <a:spcPct val="100000"/>
              </a:lnSpc>
            </a:pPr>
            <a:r>
              <a:rPr lang="en-US" sz="2200" dirty="0">
                <a:latin typeface="Times New Roman" panose="02020603050405020304" pitchFamily="18" charset="0"/>
                <a:cs typeface="Times New Roman" panose="02020603050405020304" pitchFamily="18" charset="0"/>
              </a:rPr>
              <a:t>The ER diagram represents the structural design of the </a:t>
            </a:r>
            <a:r>
              <a:rPr lang="en-US" sz="2200" b="1" dirty="0">
                <a:latin typeface="Times New Roman" panose="02020603050405020304" pitchFamily="18" charset="0"/>
                <a:cs typeface="Times New Roman" panose="02020603050405020304" pitchFamily="18" charset="0"/>
              </a:rPr>
              <a:t>ENERGYDB2</a:t>
            </a:r>
            <a:r>
              <a:rPr lang="en-US" sz="2200" dirty="0">
                <a:latin typeface="Times New Roman" panose="02020603050405020304" pitchFamily="18" charset="0"/>
                <a:cs typeface="Times New Roman" panose="02020603050405020304" pitchFamily="18" charset="0"/>
              </a:rPr>
              <a:t> database and shows how all tables are logically connected.</a:t>
            </a:r>
          </a:p>
          <a:p>
            <a:pPr algn="just">
              <a:lnSpc>
                <a:spcPct val="100000"/>
              </a:lnSpc>
            </a:pPr>
            <a:r>
              <a:rPr lang="en-US" sz="2200" dirty="0">
                <a:latin typeface="Times New Roman" panose="02020603050405020304" pitchFamily="18" charset="0"/>
                <a:cs typeface="Times New Roman" panose="02020603050405020304" pitchFamily="18" charset="0"/>
              </a:rPr>
              <a:t>The country table acts as the central entity and contains the primary key (CID), which uniquely identifies each country.</a:t>
            </a:r>
          </a:p>
          <a:p>
            <a:pPr algn="just">
              <a:lnSpc>
                <a:spcPct val="100000"/>
              </a:lnSpc>
            </a:pPr>
            <a:r>
              <a:rPr lang="en-US" sz="2200" dirty="0">
                <a:latin typeface="Times New Roman" panose="02020603050405020304" pitchFamily="18" charset="0"/>
                <a:cs typeface="Times New Roman" panose="02020603050405020304" pitchFamily="18" charset="0"/>
              </a:rPr>
              <a:t>All other tables (emission_3, production, consumption, gdp_3, population) have a foreign key referencing the country table.</a:t>
            </a:r>
          </a:p>
          <a:p>
            <a:pPr algn="just">
              <a:lnSpc>
                <a:spcPct val="100000"/>
              </a:lnSpc>
            </a:pPr>
            <a:r>
              <a:rPr lang="en-US" sz="2200" dirty="0">
                <a:latin typeface="Times New Roman" panose="02020603050405020304" pitchFamily="18" charset="0"/>
                <a:cs typeface="Times New Roman" panose="02020603050405020304" pitchFamily="18" charset="0"/>
              </a:rPr>
              <a:t>The relationships between country and other tables follow a </a:t>
            </a:r>
            <a:r>
              <a:rPr lang="en-US" sz="2200" b="1" dirty="0">
                <a:latin typeface="Times New Roman" panose="02020603050405020304" pitchFamily="18" charset="0"/>
                <a:cs typeface="Times New Roman" panose="02020603050405020304" pitchFamily="18" charset="0"/>
              </a:rPr>
              <a:t>One-to-Many (1:N)</a:t>
            </a:r>
            <a:r>
              <a:rPr lang="en-US" sz="2200" dirty="0">
                <a:latin typeface="Times New Roman" panose="02020603050405020304" pitchFamily="18" charset="0"/>
                <a:cs typeface="Times New Roman" panose="02020603050405020304" pitchFamily="18" charset="0"/>
              </a:rPr>
              <a:t> relationship model.</a:t>
            </a:r>
          </a:p>
        </p:txBody>
      </p:sp>
    </p:spTree>
    <p:extLst>
      <p:ext uri="{BB962C8B-B14F-4D97-AF65-F5344CB8AC3E}">
        <p14:creationId xmlns:p14="http://schemas.microsoft.com/office/powerpoint/2010/main" val="9479653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33540C36-3BBE-D3CD-2C94-3154E115198A}"/>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6E7D60D0-8084-B673-9ED8-D7B7BBBD01AA}"/>
              </a:ext>
            </a:extLst>
          </p:cNvPr>
          <p:cNvSpPr txBox="1">
            <a:spLocks noGrp="1"/>
          </p:cNvSpPr>
          <p:nvPr>
            <p:ph type="title"/>
          </p:nvPr>
        </p:nvSpPr>
        <p:spPr>
          <a:xfrm>
            <a:off x="0" y="14944"/>
            <a:ext cx="12192000" cy="814789"/>
          </a:xfrm>
          <a:prstGeom prst="rect">
            <a:avLst/>
          </a:prstGeom>
          <a:noFill/>
          <a:ln>
            <a:noFill/>
          </a:ln>
        </p:spPr>
        <p:txBody>
          <a:bodyPr spcFirstLastPara="1" wrap="square" lIns="91425" tIns="45700" rIns="91425" bIns="45700" anchor="ctr" anchorCtr="0">
            <a:normAutofit/>
          </a:bodyPr>
          <a:lstStyle/>
          <a:p>
            <a:pPr lvl="0" algn="ctr">
              <a:buClr>
                <a:srgbClr val="FF0000"/>
              </a:buClr>
              <a:buSzPts val="4400"/>
            </a:pPr>
            <a:r>
              <a:rPr lang="en-IN" sz="3800" b="1" dirty="0">
                <a:solidFill>
                  <a:srgbClr val="FF0000"/>
                </a:solidFill>
                <a:latin typeface="Times New Roman" panose="02020603050405020304" pitchFamily="18" charset="0"/>
                <a:cs typeface="Times New Roman" panose="02020603050405020304" pitchFamily="18" charset="0"/>
              </a:rPr>
              <a:t>General &amp; Comparative Analysis</a:t>
            </a:r>
            <a:endParaRPr sz="3800" b="1" dirty="0">
              <a:solidFill>
                <a:srgbClr val="FF0000"/>
              </a:solidFill>
              <a:latin typeface="Times New Roman" panose="02020603050405020304" pitchFamily="18" charset="0"/>
              <a:cs typeface="Times New Roman" panose="02020603050405020304" pitchFamily="18" charset="0"/>
            </a:endParaRPr>
          </a:p>
        </p:txBody>
      </p:sp>
      <p:sp>
        <p:nvSpPr>
          <p:cNvPr id="111" name="Google Shape;111;p4">
            <a:extLst>
              <a:ext uri="{FF2B5EF4-FFF2-40B4-BE49-F238E27FC236}">
                <a16:creationId xmlns:a16="http://schemas.microsoft.com/office/drawing/2014/main" id="{4647DC71-B900-9053-0759-583E0C8FAF53}"/>
              </a:ext>
            </a:extLst>
          </p:cNvPr>
          <p:cNvSpPr txBox="1">
            <a:spLocks noGrp="1"/>
          </p:cNvSpPr>
          <p:nvPr>
            <p:ph type="body" idx="1"/>
          </p:nvPr>
        </p:nvSpPr>
        <p:spPr>
          <a:xfrm>
            <a:off x="321734" y="787140"/>
            <a:ext cx="9017000" cy="753534"/>
          </a:xfrm>
          <a:prstGeom prst="rect">
            <a:avLst/>
          </a:prstGeom>
          <a:noFill/>
          <a:ln>
            <a:noFill/>
          </a:ln>
        </p:spPr>
        <p:txBody>
          <a:bodyPr spcFirstLastPara="1" wrap="square" lIns="91425" tIns="45700" rIns="91425" bIns="45700" anchor="t" anchorCtr="0">
            <a:noAutofit/>
          </a:bodyPr>
          <a:lstStyle/>
          <a:p>
            <a:pPr marL="114300" indent="0" algn="just">
              <a:lnSpc>
                <a:spcPct val="100000"/>
              </a:lnSpc>
              <a:buNone/>
            </a:pPr>
            <a:r>
              <a:rPr lang="en-US" sz="2200" b="1" i="1" dirty="0">
                <a:latin typeface="Times New Roman" panose="02020603050405020304" pitchFamily="18" charset="0"/>
                <a:cs typeface="Times New Roman" panose="02020603050405020304" pitchFamily="18" charset="0"/>
              </a:rPr>
              <a:t>1. What are the top 5 countries by GDP in the most recent year?</a:t>
            </a:r>
          </a:p>
        </p:txBody>
      </p:sp>
      <p:pic>
        <p:nvPicPr>
          <p:cNvPr id="6" name="Picture 5">
            <a:extLst>
              <a:ext uri="{FF2B5EF4-FFF2-40B4-BE49-F238E27FC236}">
                <a16:creationId xmlns:a16="http://schemas.microsoft.com/office/drawing/2014/main" id="{8B5C5026-3E28-C90A-123B-93CB7BC86EA3}"/>
              </a:ext>
            </a:extLst>
          </p:cNvPr>
          <p:cNvPicPr>
            <a:picLocks noChangeAspect="1"/>
          </p:cNvPicPr>
          <p:nvPr/>
        </p:nvPicPr>
        <p:blipFill>
          <a:blip r:embed="rId3"/>
          <a:stretch>
            <a:fillRect/>
          </a:stretch>
        </p:blipFill>
        <p:spPr>
          <a:xfrm>
            <a:off x="880533" y="1653245"/>
            <a:ext cx="5215467" cy="2184141"/>
          </a:xfrm>
          <a:prstGeom prst="rect">
            <a:avLst/>
          </a:prstGeom>
        </p:spPr>
      </p:pic>
      <p:pic>
        <p:nvPicPr>
          <p:cNvPr id="8" name="Picture 7">
            <a:extLst>
              <a:ext uri="{FF2B5EF4-FFF2-40B4-BE49-F238E27FC236}">
                <a16:creationId xmlns:a16="http://schemas.microsoft.com/office/drawing/2014/main" id="{9E655255-24A4-C64B-92C9-B724A02A3B3D}"/>
              </a:ext>
            </a:extLst>
          </p:cNvPr>
          <p:cNvPicPr>
            <a:picLocks noChangeAspect="1"/>
          </p:cNvPicPr>
          <p:nvPr/>
        </p:nvPicPr>
        <p:blipFill>
          <a:blip r:embed="rId4"/>
          <a:stretch>
            <a:fillRect/>
          </a:stretch>
        </p:blipFill>
        <p:spPr>
          <a:xfrm>
            <a:off x="7467599" y="1653245"/>
            <a:ext cx="3295373" cy="2184141"/>
          </a:xfrm>
          <a:prstGeom prst="rect">
            <a:avLst/>
          </a:prstGeom>
        </p:spPr>
      </p:pic>
      <p:sp>
        <p:nvSpPr>
          <p:cNvPr id="10" name="Google Shape;111;p4">
            <a:extLst>
              <a:ext uri="{FF2B5EF4-FFF2-40B4-BE49-F238E27FC236}">
                <a16:creationId xmlns:a16="http://schemas.microsoft.com/office/drawing/2014/main" id="{53FF3B50-CE2C-6CFA-CF15-4F3E3090769C}"/>
              </a:ext>
            </a:extLst>
          </p:cNvPr>
          <p:cNvSpPr txBox="1">
            <a:spLocks/>
          </p:cNvSpPr>
          <p:nvPr/>
        </p:nvSpPr>
        <p:spPr>
          <a:xfrm>
            <a:off x="397933" y="3949957"/>
            <a:ext cx="11201399" cy="261170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lgn="just">
              <a:lnSpc>
                <a:spcPct val="100000"/>
              </a:lnSpc>
            </a:pPr>
            <a:r>
              <a:rPr lang="en-US" sz="2200" dirty="0">
                <a:latin typeface="Times New Roman" panose="02020603050405020304" pitchFamily="18" charset="0"/>
                <a:cs typeface="Times New Roman" panose="02020603050405020304" pitchFamily="18" charset="0"/>
              </a:rPr>
              <a:t>The query uses a subquery with MAX(year) to get the latest data, then applies ORDER BY DESC and LIMIT 5 to identify the top economies.</a:t>
            </a:r>
          </a:p>
          <a:p>
            <a:pPr algn="just">
              <a:lnSpc>
                <a:spcPct val="100000"/>
              </a:lnSpc>
            </a:pPr>
            <a:r>
              <a:rPr lang="en-US" sz="2200" dirty="0">
                <a:latin typeface="Times New Roman" panose="02020603050405020304" pitchFamily="18" charset="0"/>
                <a:cs typeface="Times New Roman" panose="02020603050405020304" pitchFamily="18" charset="0"/>
              </a:rPr>
              <a:t>The output shows that major economies like the United States and China dominate global GDP rankings.</a:t>
            </a:r>
          </a:p>
          <a:p>
            <a:pPr algn="just">
              <a:lnSpc>
                <a:spcPct val="100000"/>
              </a:lnSpc>
            </a:pPr>
            <a:r>
              <a:rPr lang="en-US" sz="2200" dirty="0">
                <a:latin typeface="Times New Roman" panose="02020603050405020304" pitchFamily="18" charset="0"/>
                <a:cs typeface="Times New Roman" panose="02020603050405020304" pitchFamily="18" charset="0"/>
              </a:rPr>
              <a:t>These countries typically have higher industrial activity and energy demand, which often correlates with increased energy consumption and emissions.</a:t>
            </a:r>
          </a:p>
        </p:txBody>
      </p:sp>
    </p:spTree>
    <p:extLst>
      <p:ext uri="{BB962C8B-B14F-4D97-AF65-F5344CB8AC3E}">
        <p14:creationId xmlns:p14="http://schemas.microsoft.com/office/powerpoint/2010/main" val="14122133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CE3F4902-371D-CE33-DFE7-99C2D28179D1}"/>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A93C08C5-19CC-459F-EAE0-ED11796EA29D}"/>
              </a:ext>
            </a:extLst>
          </p:cNvPr>
          <p:cNvSpPr txBox="1">
            <a:spLocks noGrp="1"/>
          </p:cNvSpPr>
          <p:nvPr>
            <p:ph type="body" idx="1"/>
          </p:nvPr>
        </p:nvSpPr>
        <p:spPr>
          <a:xfrm>
            <a:off x="470264" y="287867"/>
            <a:ext cx="11819467" cy="753534"/>
          </a:xfrm>
          <a:prstGeom prst="rect">
            <a:avLst/>
          </a:prstGeom>
          <a:noFill/>
          <a:ln>
            <a:noFill/>
          </a:ln>
        </p:spPr>
        <p:txBody>
          <a:bodyPr spcFirstLastPara="1" wrap="square" lIns="91425" tIns="45700" rIns="91425" bIns="45700" anchor="t" anchorCtr="0">
            <a:noAutofit/>
          </a:bodyPr>
          <a:lstStyle/>
          <a:p>
            <a:pPr marL="114300" indent="0" algn="just">
              <a:lnSpc>
                <a:spcPct val="100000"/>
              </a:lnSpc>
              <a:buNone/>
            </a:pPr>
            <a:r>
              <a:rPr lang="en-US" sz="2200" b="1" i="1" dirty="0">
                <a:latin typeface="Times New Roman" panose="02020603050405020304" pitchFamily="18" charset="0"/>
                <a:cs typeface="Times New Roman" panose="02020603050405020304" pitchFamily="18" charset="0"/>
              </a:rPr>
              <a:t>2. Which energy types contribute most to emissions across all countries?</a:t>
            </a:r>
          </a:p>
        </p:txBody>
      </p:sp>
      <p:pic>
        <p:nvPicPr>
          <p:cNvPr id="6" name="Picture 5">
            <a:extLst>
              <a:ext uri="{FF2B5EF4-FFF2-40B4-BE49-F238E27FC236}">
                <a16:creationId xmlns:a16="http://schemas.microsoft.com/office/drawing/2014/main" id="{EB9993C8-F589-5F68-D599-C379EC185B01}"/>
              </a:ext>
            </a:extLst>
          </p:cNvPr>
          <p:cNvPicPr>
            <a:picLocks noChangeAspect="1"/>
          </p:cNvPicPr>
          <p:nvPr/>
        </p:nvPicPr>
        <p:blipFill>
          <a:blip r:embed="rId3"/>
          <a:srcRect/>
          <a:stretch/>
        </p:blipFill>
        <p:spPr>
          <a:xfrm>
            <a:off x="470261" y="1137010"/>
            <a:ext cx="5909736" cy="2067568"/>
          </a:xfrm>
          <a:prstGeom prst="rect">
            <a:avLst/>
          </a:prstGeom>
        </p:spPr>
      </p:pic>
      <p:pic>
        <p:nvPicPr>
          <p:cNvPr id="8" name="Picture 7">
            <a:extLst>
              <a:ext uri="{FF2B5EF4-FFF2-40B4-BE49-F238E27FC236}">
                <a16:creationId xmlns:a16="http://schemas.microsoft.com/office/drawing/2014/main" id="{FB769A55-5A30-F305-488B-6C83F288C875}"/>
              </a:ext>
            </a:extLst>
          </p:cNvPr>
          <p:cNvPicPr>
            <a:picLocks noChangeAspect="1"/>
          </p:cNvPicPr>
          <p:nvPr/>
        </p:nvPicPr>
        <p:blipFill>
          <a:blip r:embed="rId4"/>
          <a:srcRect/>
          <a:stretch/>
        </p:blipFill>
        <p:spPr>
          <a:xfrm>
            <a:off x="6615077" y="1041401"/>
            <a:ext cx="5106659" cy="2163177"/>
          </a:xfrm>
          <a:prstGeom prst="rect">
            <a:avLst/>
          </a:prstGeom>
        </p:spPr>
      </p:pic>
      <p:sp>
        <p:nvSpPr>
          <p:cNvPr id="10" name="Google Shape;111;p4">
            <a:extLst>
              <a:ext uri="{FF2B5EF4-FFF2-40B4-BE49-F238E27FC236}">
                <a16:creationId xmlns:a16="http://schemas.microsoft.com/office/drawing/2014/main" id="{E49ACCC1-3296-9D43-5A99-CAB3DF4F8CDA}"/>
              </a:ext>
            </a:extLst>
          </p:cNvPr>
          <p:cNvSpPr txBox="1">
            <a:spLocks/>
          </p:cNvSpPr>
          <p:nvPr/>
        </p:nvSpPr>
        <p:spPr>
          <a:xfrm>
            <a:off x="470260" y="3429000"/>
            <a:ext cx="11251476" cy="262389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lgn="just">
              <a:lnSpc>
                <a:spcPct val="100000"/>
              </a:lnSpc>
            </a:pPr>
            <a:r>
              <a:rPr lang="en-US" sz="2200" dirty="0">
                <a:latin typeface="Times New Roman" panose="02020603050405020304" pitchFamily="18" charset="0"/>
                <a:cs typeface="Times New Roman" panose="02020603050405020304" pitchFamily="18" charset="0"/>
              </a:rPr>
              <a:t>The query uses SUM() to calculate the total, GROUP BY to categorize by energy type, and ORDER BY DESC to rank highest emissions first.</a:t>
            </a:r>
          </a:p>
          <a:p>
            <a:pPr algn="just">
              <a:lnSpc>
                <a:spcPct val="100000"/>
              </a:lnSpc>
            </a:pPr>
            <a:r>
              <a:rPr lang="en-US" sz="2200" dirty="0">
                <a:latin typeface="Times New Roman" panose="02020603050405020304" pitchFamily="18" charset="0"/>
                <a:cs typeface="Times New Roman" panose="02020603050405020304" pitchFamily="18" charset="0"/>
              </a:rPr>
              <a:t>CO₂ emissions show the highest total value, indicating overall emission levels are significantly high across countries.</a:t>
            </a:r>
          </a:p>
          <a:p>
            <a:pPr algn="just">
              <a:lnSpc>
                <a:spcPct val="100000"/>
              </a:lnSpc>
            </a:pPr>
            <a:r>
              <a:rPr lang="en-US" sz="2200" dirty="0">
                <a:latin typeface="Times New Roman" panose="02020603050405020304" pitchFamily="18" charset="0"/>
                <a:cs typeface="Times New Roman" panose="02020603050405020304" pitchFamily="18" charset="0"/>
              </a:rPr>
              <a:t>Coal and coke contribute more emissions than petroleum and natural gas, highlighting coal as the major fossil fuel source.</a:t>
            </a:r>
          </a:p>
        </p:txBody>
      </p:sp>
    </p:spTree>
    <p:extLst>
      <p:ext uri="{BB962C8B-B14F-4D97-AF65-F5344CB8AC3E}">
        <p14:creationId xmlns:p14="http://schemas.microsoft.com/office/powerpoint/2010/main" val="24394371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CFC9057B-2BF4-0F59-2B6A-6743E4F7A832}"/>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9E15E5E7-A431-86C2-5840-ED70655FD3C6}"/>
              </a:ext>
            </a:extLst>
          </p:cNvPr>
          <p:cNvSpPr txBox="1">
            <a:spLocks noGrp="1"/>
          </p:cNvSpPr>
          <p:nvPr>
            <p:ph type="title"/>
          </p:nvPr>
        </p:nvSpPr>
        <p:spPr>
          <a:xfrm>
            <a:off x="0" y="14944"/>
            <a:ext cx="12192000" cy="814789"/>
          </a:xfrm>
          <a:prstGeom prst="rect">
            <a:avLst/>
          </a:prstGeom>
          <a:noFill/>
          <a:ln>
            <a:noFill/>
          </a:ln>
        </p:spPr>
        <p:txBody>
          <a:bodyPr spcFirstLastPara="1" wrap="square" lIns="91425" tIns="45700" rIns="91425" bIns="45700" anchor="ctr" anchorCtr="0">
            <a:normAutofit/>
          </a:bodyPr>
          <a:lstStyle/>
          <a:p>
            <a:pPr lvl="0" algn="ctr">
              <a:buClr>
                <a:srgbClr val="FF0000"/>
              </a:buClr>
              <a:buSzPts val="4400"/>
            </a:pPr>
            <a:r>
              <a:rPr lang="en-IN" sz="3800" b="1" dirty="0">
                <a:solidFill>
                  <a:srgbClr val="FF0000"/>
                </a:solidFill>
                <a:latin typeface="Times New Roman" panose="02020603050405020304" pitchFamily="18" charset="0"/>
                <a:cs typeface="Times New Roman" panose="02020603050405020304" pitchFamily="18" charset="0"/>
              </a:rPr>
              <a:t>Trend Analysis Over Time</a:t>
            </a:r>
            <a:endParaRPr sz="3800" b="1" dirty="0">
              <a:solidFill>
                <a:srgbClr val="FF0000"/>
              </a:solidFill>
              <a:latin typeface="Times New Roman" panose="02020603050405020304" pitchFamily="18" charset="0"/>
              <a:cs typeface="Times New Roman" panose="02020603050405020304" pitchFamily="18" charset="0"/>
            </a:endParaRPr>
          </a:p>
        </p:txBody>
      </p:sp>
      <p:sp>
        <p:nvSpPr>
          <p:cNvPr id="111" name="Google Shape;111;p4">
            <a:extLst>
              <a:ext uri="{FF2B5EF4-FFF2-40B4-BE49-F238E27FC236}">
                <a16:creationId xmlns:a16="http://schemas.microsoft.com/office/drawing/2014/main" id="{7E8FC66D-976E-0661-86F9-A4F02F3A5FCB}"/>
              </a:ext>
            </a:extLst>
          </p:cNvPr>
          <p:cNvSpPr txBox="1">
            <a:spLocks noGrp="1"/>
          </p:cNvSpPr>
          <p:nvPr>
            <p:ph type="body" idx="1"/>
          </p:nvPr>
        </p:nvSpPr>
        <p:spPr>
          <a:xfrm>
            <a:off x="321734" y="787140"/>
            <a:ext cx="9017000" cy="753534"/>
          </a:xfrm>
          <a:prstGeom prst="rect">
            <a:avLst/>
          </a:prstGeom>
          <a:noFill/>
          <a:ln>
            <a:noFill/>
          </a:ln>
        </p:spPr>
        <p:txBody>
          <a:bodyPr spcFirstLastPara="1" wrap="square" lIns="91425" tIns="45700" rIns="91425" bIns="45700" anchor="t" anchorCtr="0">
            <a:noAutofit/>
          </a:bodyPr>
          <a:lstStyle/>
          <a:p>
            <a:pPr marL="114300" indent="0" algn="just">
              <a:lnSpc>
                <a:spcPct val="100000"/>
              </a:lnSpc>
              <a:buNone/>
            </a:pPr>
            <a:r>
              <a:rPr lang="en-US" sz="2200" b="1" i="1" dirty="0">
                <a:latin typeface="Times New Roman" panose="02020603050405020304" pitchFamily="18" charset="0"/>
                <a:cs typeface="Times New Roman" panose="02020603050405020304" pitchFamily="18" charset="0"/>
              </a:rPr>
              <a:t>1. What is the trend in GDP for each country?</a:t>
            </a:r>
          </a:p>
        </p:txBody>
      </p:sp>
      <p:pic>
        <p:nvPicPr>
          <p:cNvPr id="6" name="Picture 5">
            <a:extLst>
              <a:ext uri="{FF2B5EF4-FFF2-40B4-BE49-F238E27FC236}">
                <a16:creationId xmlns:a16="http://schemas.microsoft.com/office/drawing/2014/main" id="{2F1A0706-A874-9D3D-0DEE-2D90661AEF94}"/>
              </a:ext>
            </a:extLst>
          </p:cNvPr>
          <p:cNvPicPr>
            <a:picLocks noChangeAspect="1"/>
          </p:cNvPicPr>
          <p:nvPr/>
        </p:nvPicPr>
        <p:blipFill>
          <a:blip r:embed="rId3"/>
          <a:srcRect/>
          <a:stretch/>
        </p:blipFill>
        <p:spPr>
          <a:xfrm>
            <a:off x="880533" y="2039694"/>
            <a:ext cx="5215467" cy="1411243"/>
          </a:xfrm>
          <a:prstGeom prst="rect">
            <a:avLst/>
          </a:prstGeom>
        </p:spPr>
      </p:pic>
      <p:pic>
        <p:nvPicPr>
          <p:cNvPr id="8" name="Picture 7">
            <a:extLst>
              <a:ext uri="{FF2B5EF4-FFF2-40B4-BE49-F238E27FC236}">
                <a16:creationId xmlns:a16="http://schemas.microsoft.com/office/drawing/2014/main" id="{057ABE9A-3019-D79A-A655-7711DFD2B1CA}"/>
              </a:ext>
            </a:extLst>
          </p:cNvPr>
          <p:cNvPicPr>
            <a:picLocks noChangeAspect="1"/>
          </p:cNvPicPr>
          <p:nvPr/>
        </p:nvPicPr>
        <p:blipFill>
          <a:blip r:embed="rId4"/>
          <a:srcRect/>
          <a:stretch/>
        </p:blipFill>
        <p:spPr>
          <a:xfrm>
            <a:off x="8080567" y="1439462"/>
            <a:ext cx="2516333" cy="2510495"/>
          </a:xfrm>
          <a:prstGeom prst="rect">
            <a:avLst/>
          </a:prstGeom>
        </p:spPr>
      </p:pic>
      <p:sp>
        <p:nvSpPr>
          <p:cNvPr id="10" name="Google Shape;111;p4">
            <a:extLst>
              <a:ext uri="{FF2B5EF4-FFF2-40B4-BE49-F238E27FC236}">
                <a16:creationId xmlns:a16="http://schemas.microsoft.com/office/drawing/2014/main" id="{BD16C2FD-56DF-B44E-F16E-F7EC1BFCDB0C}"/>
              </a:ext>
            </a:extLst>
          </p:cNvPr>
          <p:cNvSpPr txBox="1">
            <a:spLocks/>
          </p:cNvSpPr>
          <p:nvPr/>
        </p:nvSpPr>
        <p:spPr>
          <a:xfrm>
            <a:off x="321734" y="3929047"/>
            <a:ext cx="11201399" cy="261170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lgn="just">
              <a:lnSpc>
                <a:spcPct val="100000"/>
              </a:lnSpc>
            </a:pPr>
            <a:r>
              <a:rPr lang="en-US" sz="2200" dirty="0">
                <a:latin typeface="Times New Roman" panose="02020603050405020304" pitchFamily="18" charset="0"/>
                <a:cs typeface="Times New Roman" panose="02020603050405020304" pitchFamily="18" charset="0"/>
              </a:rPr>
              <a:t>The query retrieves country-wise yearly GDP data and orders it using ORDER BY Country, year to analyze trends chronologically.</a:t>
            </a:r>
          </a:p>
          <a:p>
            <a:pPr algn="just">
              <a:lnSpc>
                <a:spcPct val="100000"/>
              </a:lnSpc>
            </a:pPr>
            <a:r>
              <a:rPr lang="en-US" sz="2200" dirty="0">
                <a:latin typeface="Times New Roman" panose="02020603050405020304" pitchFamily="18" charset="0"/>
                <a:cs typeface="Times New Roman" panose="02020603050405020304" pitchFamily="18" charset="0"/>
              </a:rPr>
              <a:t>The GDP values show how each country’s economy changes over the years, helping identify growth or decline patterns.</a:t>
            </a:r>
          </a:p>
          <a:p>
            <a:pPr algn="just">
              <a:lnSpc>
                <a:spcPct val="100000"/>
              </a:lnSpc>
            </a:pPr>
            <a:r>
              <a:rPr lang="en-US" sz="2200" dirty="0">
                <a:latin typeface="Times New Roman" panose="02020603050405020304" pitchFamily="18" charset="0"/>
                <a:cs typeface="Times New Roman" panose="02020603050405020304" pitchFamily="18" charset="0"/>
              </a:rPr>
              <a:t>Most countries generally show an upward GDP trend, indicating economic expansion over time.</a:t>
            </a:r>
          </a:p>
        </p:txBody>
      </p:sp>
    </p:spTree>
    <p:extLst>
      <p:ext uri="{BB962C8B-B14F-4D97-AF65-F5344CB8AC3E}">
        <p14:creationId xmlns:p14="http://schemas.microsoft.com/office/powerpoint/2010/main" val="6599599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EEA7A393-0AC7-9D21-97C7-31AEF4BA6F20}"/>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8D4C9D64-F73D-930F-7320-0ECFE2228C9B}"/>
              </a:ext>
            </a:extLst>
          </p:cNvPr>
          <p:cNvSpPr txBox="1">
            <a:spLocks noGrp="1"/>
          </p:cNvSpPr>
          <p:nvPr>
            <p:ph type="body" idx="1"/>
          </p:nvPr>
        </p:nvSpPr>
        <p:spPr>
          <a:xfrm>
            <a:off x="470264" y="287867"/>
            <a:ext cx="11819467" cy="753534"/>
          </a:xfrm>
          <a:prstGeom prst="rect">
            <a:avLst/>
          </a:prstGeom>
          <a:noFill/>
          <a:ln>
            <a:noFill/>
          </a:ln>
        </p:spPr>
        <p:txBody>
          <a:bodyPr spcFirstLastPara="1" wrap="square" lIns="91425" tIns="45700" rIns="91425" bIns="45700" anchor="t" anchorCtr="0">
            <a:noAutofit/>
          </a:bodyPr>
          <a:lstStyle/>
          <a:p>
            <a:pPr marL="114300" indent="0" algn="just">
              <a:lnSpc>
                <a:spcPct val="100000"/>
              </a:lnSpc>
              <a:buNone/>
            </a:pPr>
            <a:r>
              <a:rPr lang="en-US" sz="2200" b="1" i="1" dirty="0">
                <a:latin typeface="Times New Roman" panose="02020603050405020304" pitchFamily="18" charset="0"/>
                <a:cs typeface="Times New Roman" panose="02020603050405020304" pitchFamily="18" charset="0"/>
              </a:rPr>
              <a:t>2. Has energy consumption increased or decreased over the years for major economies?</a:t>
            </a:r>
          </a:p>
        </p:txBody>
      </p:sp>
      <p:pic>
        <p:nvPicPr>
          <p:cNvPr id="6" name="Picture 5">
            <a:extLst>
              <a:ext uri="{FF2B5EF4-FFF2-40B4-BE49-F238E27FC236}">
                <a16:creationId xmlns:a16="http://schemas.microsoft.com/office/drawing/2014/main" id="{0B7004D8-D188-3EA7-A015-2DC517F475B9}"/>
              </a:ext>
            </a:extLst>
          </p:cNvPr>
          <p:cNvPicPr>
            <a:picLocks noChangeAspect="1"/>
          </p:cNvPicPr>
          <p:nvPr/>
        </p:nvPicPr>
        <p:blipFill>
          <a:blip r:embed="rId3"/>
          <a:srcRect/>
          <a:stretch/>
        </p:blipFill>
        <p:spPr>
          <a:xfrm>
            <a:off x="958842" y="984202"/>
            <a:ext cx="5509691" cy="2717415"/>
          </a:xfrm>
          <a:prstGeom prst="rect">
            <a:avLst/>
          </a:prstGeom>
        </p:spPr>
      </p:pic>
      <p:pic>
        <p:nvPicPr>
          <p:cNvPr id="8" name="Picture 7">
            <a:extLst>
              <a:ext uri="{FF2B5EF4-FFF2-40B4-BE49-F238E27FC236}">
                <a16:creationId xmlns:a16="http://schemas.microsoft.com/office/drawing/2014/main" id="{BA1D8FB5-8475-9ADF-FF32-5D414E1B22D5}"/>
              </a:ext>
            </a:extLst>
          </p:cNvPr>
          <p:cNvPicPr>
            <a:picLocks noChangeAspect="1"/>
          </p:cNvPicPr>
          <p:nvPr/>
        </p:nvPicPr>
        <p:blipFill>
          <a:blip r:embed="rId4"/>
          <a:srcRect/>
          <a:stretch/>
        </p:blipFill>
        <p:spPr>
          <a:xfrm>
            <a:off x="7978431" y="984202"/>
            <a:ext cx="2012236" cy="2623893"/>
          </a:xfrm>
          <a:prstGeom prst="rect">
            <a:avLst/>
          </a:prstGeom>
        </p:spPr>
      </p:pic>
      <p:sp>
        <p:nvSpPr>
          <p:cNvPr id="10" name="Google Shape;111;p4">
            <a:extLst>
              <a:ext uri="{FF2B5EF4-FFF2-40B4-BE49-F238E27FC236}">
                <a16:creationId xmlns:a16="http://schemas.microsoft.com/office/drawing/2014/main" id="{4FCA1089-E511-2263-6806-D8216EB910C1}"/>
              </a:ext>
            </a:extLst>
          </p:cNvPr>
          <p:cNvSpPr txBox="1">
            <a:spLocks/>
          </p:cNvSpPr>
          <p:nvPr/>
        </p:nvSpPr>
        <p:spPr>
          <a:xfrm>
            <a:off x="470262" y="3669045"/>
            <a:ext cx="11251476" cy="262389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lgn="just">
              <a:lnSpc>
                <a:spcPct val="100000"/>
              </a:lnSpc>
            </a:pPr>
            <a:r>
              <a:rPr lang="en-US" sz="2200" dirty="0">
                <a:latin typeface="Times New Roman" panose="02020603050405020304" pitchFamily="18" charset="0"/>
                <a:cs typeface="Times New Roman" panose="02020603050405020304" pitchFamily="18" charset="0"/>
              </a:rPr>
              <a:t>The query first selects the top 5 economies using a subquery on latest GDP, then joins with the consumption table and groups by country and year to analyze yearly trends.</a:t>
            </a:r>
          </a:p>
          <a:p>
            <a:pPr algn="just">
              <a:lnSpc>
                <a:spcPct val="100000"/>
              </a:lnSpc>
            </a:pPr>
            <a:r>
              <a:rPr lang="en-US" sz="2200" dirty="0">
                <a:latin typeface="Times New Roman" panose="02020603050405020304" pitchFamily="18" charset="0"/>
                <a:cs typeface="Times New Roman" panose="02020603050405020304" pitchFamily="18" charset="0"/>
              </a:rPr>
              <a:t>Energy consumption for major economies generally shows an increasing trend over the years, reflecting growing industrial and economic activities.</a:t>
            </a:r>
          </a:p>
          <a:p>
            <a:pPr algn="just">
              <a:lnSpc>
                <a:spcPct val="100000"/>
              </a:lnSpc>
            </a:pPr>
            <a:r>
              <a:rPr lang="en-US" sz="2200" dirty="0">
                <a:latin typeface="Times New Roman" panose="02020603050405020304" pitchFamily="18" charset="0"/>
                <a:cs typeface="Times New Roman" panose="02020603050405020304" pitchFamily="18" charset="0"/>
              </a:rPr>
              <a:t>The rise in consumption aligns with higher GDP countries, indicating strong demand for energy in developed nations.</a:t>
            </a:r>
          </a:p>
        </p:txBody>
      </p:sp>
    </p:spTree>
    <p:extLst>
      <p:ext uri="{BB962C8B-B14F-4D97-AF65-F5344CB8AC3E}">
        <p14:creationId xmlns:p14="http://schemas.microsoft.com/office/powerpoint/2010/main" val="13575209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FA6E057E-9CC6-AB63-4EC0-7966CB84D685}"/>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E4271700-D1C2-7022-F433-F3782A49B270}"/>
              </a:ext>
            </a:extLst>
          </p:cNvPr>
          <p:cNvSpPr txBox="1">
            <a:spLocks noGrp="1"/>
          </p:cNvSpPr>
          <p:nvPr>
            <p:ph type="title"/>
          </p:nvPr>
        </p:nvSpPr>
        <p:spPr>
          <a:xfrm>
            <a:off x="0" y="14944"/>
            <a:ext cx="12192000" cy="814789"/>
          </a:xfrm>
          <a:prstGeom prst="rect">
            <a:avLst/>
          </a:prstGeom>
          <a:noFill/>
          <a:ln>
            <a:noFill/>
          </a:ln>
        </p:spPr>
        <p:txBody>
          <a:bodyPr spcFirstLastPara="1" wrap="square" lIns="91425" tIns="45700" rIns="91425" bIns="45700" anchor="ctr" anchorCtr="0">
            <a:normAutofit/>
          </a:bodyPr>
          <a:lstStyle/>
          <a:p>
            <a:pPr lvl="0" algn="ctr">
              <a:buClr>
                <a:srgbClr val="FF0000"/>
              </a:buClr>
              <a:buSzPts val="4400"/>
            </a:pPr>
            <a:r>
              <a:rPr lang="en-IN" sz="3800" b="1" dirty="0">
                <a:solidFill>
                  <a:srgbClr val="FF0000"/>
                </a:solidFill>
                <a:latin typeface="Times New Roman" panose="02020603050405020304" pitchFamily="18" charset="0"/>
                <a:cs typeface="Times New Roman" panose="02020603050405020304" pitchFamily="18" charset="0"/>
              </a:rPr>
              <a:t>Ratio &amp; Per Capita Analysis</a:t>
            </a:r>
            <a:endParaRPr sz="3800" b="1" dirty="0">
              <a:solidFill>
                <a:srgbClr val="FF0000"/>
              </a:solidFill>
              <a:latin typeface="Times New Roman" panose="02020603050405020304" pitchFamily="18" charset="0"/>
              <a:cs typeface="Times New Roman" panose="02020603050405020304" pitchFamily="18" charset="0"/>
            </a:endParaRPr>
          </a:p>
        </p:txBody>
      </p:sp>
      <p:sp>
        <p:nvSpPr>
          <p:cNvPr id="111" name="Google Shape;111;p4">
            <a:extLst>
              <a:ext uri="{FF2B5EF4-FFF2-40B4-BE49-F238E27FC236}">
                <a16:creationId xmlns:a16="http://schemas.microsoft.com/office/drawing/2014/main" id="{8CD28B8B-7B24-2057-9540-2972911248BC}"/>
              </a:ext>
            </a:extLst>
          </p:cNvPr>
          <p:cNvSpPr txBox="1">
            <a:spLocks noGrp="1"/>
          </p:cNvSpPr>
          <p:nvPr>
            <p:ph type="body" idx="1"/>
          </p:nvPr>
        </p:nvSpPr>
        <p:spPr>
          <a:xfrm>
            <a:off x="321734" y="787140"/>
            <a:ext cx="9017000" cy="753534"/>
          </a:xfrm>
          <a:prstGeom prst="rect">
            <a:avLst/>
          </a:prstGeom>
          <a:noFill/>
          <a:ln>
            <a:noFill/>
          </a:ln>
        </p:spPr>
        <p:txBody>
          <a:bodyPr spcFirstLastPara="1" wrap="square" lIns="91425" tIns="45700" rIns="91425" bIns="45700" anchor="t" anchorCtr="0">
            <a:noAutofit/>
          </a:bodyPr>
          <a:lstStyle/>
          <a:p>
            <a:pPr marL="114300" indent="0" algn="just">
              <a:lnSpc>
                <a:spcPct val="100000"/>
              </a:lnSpc>
              <a:buNone/>
            </a:pPr>
            <a:r>
              <a:rPr lang="en-US" sz="2200" b="1" i="1" dirty="0">
                <a:latin typeface="Times New Roman" panose="02020603050405020304" pitchFamily="18" charset="0"/>
                <a:cs typeface="Times New Roman" panose="02020603050405020304" pitchFamily="18" charset="0"/>
              </a:rPr>
              <a:t>1. How does energy production per capita vary across countries?</a:t>
            </a:r>
          </a:p>
        </p:txBody>
      </p:sp>
      <p:pic>
        <p:nvPicPr>
          <p:cNvPr id="6" name="Picture 5">
            <a:extLst>
              <a:ext uri="{FF2B5EF4-FFF2-40B4-BE49-F238E27FC236}">
                <a16:creationId xmlns:a16="http://schemas.microsoft.com/office/drawing/2014/main" id="{814F5B8B-69DC-9B8C-62F4-3B40C2DEE968}"/>
              </a:ext>
            </a:extLst>
          </p:cNvPr>
          <p:cNvPicPr>
            <a:picLocks noChangeAspect="1"/>
          </p:cNvPicPr>
          <p:nvPr/>
        </p:nvPicPr>
        <p:blipFill>
          <a:blip r:embed="rId3"/>
          <a:srcRect/>
          <a:stretch/>
        </p:blipFill>
        <p:spPr>
          <a:xfrm>
            <a:off x="833897" y="1540674"/>
            <a:ext cx="5998703" cy="2046688"/>
          </a:xfrm>
          <a:prstGeom prst="rect">
            <a:avLst/>
          </a:prstGeom>
        </p:spPr>
      </p:pic>
      <p:pic>
        <p:nvPicPr>
          <p:cNvPr id="8" name="Picture 7">
            <a:extLst>
              <a:ext uri="{FF2B5EF4-FFF2-40B4-BE49-F238E27FC236}">
                <a16:creationId xmlns:a16="http://schemas.microsoft.com/office/drawing/2014/main" id="{A2F31E82-0B45-EFDE-1AAE-891B125A039E}"/>
              </a:ext>
            </a:extLst>
          </p:cNvPr>
          <p:cNvPicPr>
            <a:picLocks noChangeAspect="1"/>
          </p:cNvPicPr>
          <p:nvPr/>
        </p:nvPicPr>
        <p:blipFill>
          <a:blip r:embed="rId4"/>
          <a:srcRect/>
          <a:stretch/>
        </p:blipFill>
        <p:spPr>
          <a:xfrm>
            <a:off x="7619983" y="1540674"/>
            <a:ext cx="2995394" cy="2184141"/>
          </a:xfrm>
          <a:prstGeom prst="rect">
            <a:avLst/>
          </a:prstGeom>
        </p:spPr>
      </p:pic>
      <p:sp>
        <p:nvSpPr>
          <p:cNvPr id="10" name="Google Shape;111;p4">
            <a:extLst>
              <a:ext uri="{FF2B5EF4-FFF2-40B4-BE49-F238E27FC236}">
                <a16:creationId xmlns:a16="http://schemas.microsoft.com/office/drawing/2014/main" id="{5391683B-25C4-951C-3B85-74DE5B9034B1}"/>
              </a:ext>
            </a:extLst>
          </p:cNvPr>
          <p:cNvSpPr txBox="1">
            <a:spLocks/>
          </p:cNvSpPr>
          <p:nvPr/>
        </p:nvSpPr>
        <p:spPr>
          <a:xfrm>
            <a:off x="495300" y="3722310"/>
            <a:ext cx="11201399" cy="283685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lgn="just">
              <a:lnSpc>
                <a:spcPct val="100000"/>
              </a:lnSpc>
            </a:pPr>
            <a:r>
              <a:rPr lang="en-US" sz="2200" dirty="0">
                <a:latin typeface="Times New Roman" panose="02020603050405020304" pitchFamily="18" charset="0"/>
                <a:cs typeface="Times New Roman" panose="02020603050405020304" pitchFamily="18" charset="0"/>
              </a:rPr>
              <a:t>The query joins production and population tables, calculates per capita production using total production divided by population, and orders the results country-wise and year-wise for comparison.</a:t>
            </a:r>
          </a:p>
          <a:p>
            <a:pPr algn="just">
              <a:lnSpc>
                <a:spcPct val="100000"/>
              </a:lnSpc>
            </a:pPr>
            <a:r>
              <a:rPr lang="en-US" sz="2200" dirty="0">
                <a:latin typeface="Times New Roman" panose="02020603050405020304" pitchFamily="18" charset="0"/>
                <a:cs typeface="Times New Roman" panose="02020603050405020304" pitchFamily="18" charset="0"/>
              </a:rPr>
              <a:t>Energy production per capita varies significantly across countries, with smaller or energy-rich nations often showing higher per-person output.</a:t>
            </a:r>
          </a:p>
          <a:p>
            <a:pPr algn="just">
              <a:lnSpc>
                <a:spcPct val="100000"/>
              </a:lnSpc>
            </a:pPr>
            <a:r>
              <a:rPr lang="en-US" sz="2200" dirty="0">
                <a:latin typeface="Times New Roman" panose="02020603050405020304" pitchFamily="18" charset="0"/>
                <a:cs typeface="Times New Roman" panose="02020603050405020304" pitchFamily="18" charset="0"/>
              </a:rPr>
              <a:t>Countries with large populations tend to have lower production per capita despite high total production levels.</a:t>
            </a:r>
          </a:p>
        </p:txBody>
      </p:sp>
    </p:spTree>
    <p:extLst>
      <p:ext uri="{BB962C8B-B14F-4D97-AF65-F5344CB8AC3E}">
        <p14:creationId xmlns:p14="http://schemas.microsoft.com/office/powerpoint/2010/main" val="41318980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40D37DB7-260D-C082-6FE2-8D3235C341C7}"/>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3CFB70D1-2C03-65C3-DEEF-14ADDC242739}"/>
              </a:ext>
            </a:extLst>
          </p:cNvPr>
          <p:cNvSpPr txBox="1">
            <a:spLocks noGrp="1"/>
          </p:cNvSpPr>
          <p:nvPr>
            <p:ph type="body" idx="1"/>
          </p:nvPr>
        </p:nvSpPr>
        <p:spPr>
          <a:xfrm>
            <a:off x="470264" y="287867"/>
            <a:ext cx="11819467" cy="753534"/>
          </a:xfrm>
          <a:prstGeom prst="rect">
            <a:avLst/>
          </a:prstGeom>
          <a:noFill/>
          <a:ln>
            <a:noFill/>
          </a:ln>
        </p:spPr>
        <p:txBody>
          <a:bodyPr spcFirstLastPara="1" wrap="square" lIns="91425" tIns="45700" rIns="91425" bIns="45700" anchor="t" anchorCtr="0">
            <a:noAutofit/>
          </a:bodyPr>
          <a:lstStyle/>
          <a:p>
            <a:pPr marL="114300" indent="0" algn="just">
              <a:lnSpc>
                <a:spcPct val="100000"/>
              </a:lnSpc>
              <a:buNone/>
            </a:pPr>
            <a:r>
              <a:rPr lang="en-US" sz="2200" b="1" i="1" dirty="0">
                <a:latin typeface="Times New Roman" panose="02020603050405020304" pitchFamily="18" charset="0"/>
                <a:cs typeface="Times New Roman" panose="02020603050405020304" pitchFamily="18" charset="0"/>
              </a:rPr>
              <a:t>2. Which countries have the highest energy consumption relative to GDP?</a:t>
            </a:r>
          </a:p>
        </p:txBody>
      </p:sp>
      <p:pic>
        <p:nvPicPr>
          <p:cNvPr id="6" name="Picture 5">
            <a:extLst>
              <a:ext uri="{FF2B5EF4-FFF2-40B4-BE49-F238E27FC236}">
                <a16:creationId xmlns:a16="http://schemas.microsoft.com/office/drawing/2014/main" id="{69F808D5-8166-E4EF-64B5-71E9033E47A2}"/>
              </a:ext>
            </a:extLst>
          </p:cNvPr>
          <p:cNvPicPr>
            <a:picLocks noChangeAspect="1"/>
          </p:cNvPicPr>
          <p:nvPr/>
        </p:nvPicPr>
        <p:blipFill>
          <a:blip r:embed="rId3"/>
          <a:srcRect/>
          <a:stretch/>
        </p:blipFill>
        <p:spPr>
          <a:xfrm>
            <a:off x="815406" y="1037168"/>
            <a:ext cx="6288127" cy="2175933"/>
          </a:xfrm>
          <a:prstGeom prst="rect">
            <a:avLst/>
          </a:prstGeom>
        </p:spPr>
      </p:pic>
      <p:pic>
        <p:nvPicPr>
          <p:cNvPr id="8" name="Picture 7">
            <a:extLst>
              <a:ext uri="{FF2B5EF4-FFF2-40B4-BE49-F238E27FC236}">
                <a16:creationId xmlns:a16="http://schemas.microsoft.com/office/drawing/2014/main" id="{489B9166-4EB9-BD99-9594-EE472E88E3EF}"/>
              </a:ext>
            </a:extLst>
          </p:cNvPr>
          <p:cNvPicPr>
            <a:picLocks noChangeAspect="1"/>
          </p:cNvPicPr>
          <p:nvPr/>
        </p:nvPicPr>
        <p:blipFill>
          <a:blip r:embed="rId4"/>
          <a:srcRect/>
          <a:stretch/>
        </p:blipFill>
        <p:spPr>
          <a:xfrm>
            <a:off x="7728069" y="1037168"/>
            <a:ext cx="3346332" cy="2252133"/>
          </a:xfrm>
          <a:prstGeom prst="rect">
            <a:avLst/>
          </a:prstGeom>
        </p:spPr>
      </p:pic>
      <p:sp>
        <p:nvSpPr>
          <p:cNvPr id="10" name="Google Shape;111;p4">
            <a:extLst>
              <a:ext uri="{FF2B5EF4-FFF2-40B4-BE49-F238E27FC236}">
                <a16:creationId xmlns:a16="http://schemas.microsoft.com/office/drawing/2014/main" id="{944D925E-438A-8CA0-901A-FAC638784DA2}"/>
              </a:ext>
            </a:extLst>
          </p:cNvPr>
          <p:cNvSpPr txBox="1">
            <a:spLocks/>
          </p:cNvSpPr>
          <p:nvPr/>
        </p:nvSpPr>
        <p:spPr>
          <a:xfrm>
            <a:off x="470262" y="3369733"/>
            <a:ext cx="11251476" cy="29210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lgn="just">
              <a:lnSpc>
                <a:spcPct val="100000"/>
              </a:lnSpc>
            </a:pPr>
            <a:r>
              <a:rPr lang="en-US" sz="2200" dirty="0">
                <a:latin typeface="Times New Roman" panose="02020603050405020304" pitchFamily="18" charset="0"/>
                <a:cs typeface="Times New Roman" panose="02020603050405020304" pitchFamily="18" charset="0"/>
              </a:rPr>
              <a:t>The query joins consumption and GDP tables, calculates the consumption-to-GDP ratio using aggregated consumption divided by GDP, and orders the results in descending order to identify the highest values.</a:t>
            </a:r>
          </a:p>
          <a:p>
            <a:pPr algn="just">
              <a:lnSpc>
                <a:spcPct val="100000"/>
              </a:lnSpc>
            </a:pPr>
            <a:r>
              <a:rPr lang="en-US" sz="2200" dirty="0">
                <a:latin typeface="Times New Roman" panose="02020603050405020304" pitchFamily="18" charset="0"/>
                <a:cs typeface="Times New Roman" panose="02020603050405020304" pitchFamily="18" charset="0"/>
              </a:rPr>
              <a:t>Countries with the highest consumption-to-GDP ratio use more energy relative to their economic output, indicating lower energy efficiency.</a:t>
            </a:r>
          </a:p>
          <a:p>
            <a:pPr algn="just">
              <a:lnSpc>
                <a:spcPct val="100000"/>
              </a:lnSpc>
            </a:pPr>
            <a:r>
              <a:rPr lang="en-US" sz="2200" dirty="0">
                <a:latin typeface="Times New Roman" panose="02020603050405020304" pitchFamily="18" charset="0"/>
                <a:cs typeface="Times New Roman" panose="02020603050405020304" pitchFamily="18" charset="0"/>
              </a:rPr>
              <a:t>Economies with lower ratios are generally more efficient, producing higher GDP with comparatively less energy usage.</a:t>
            </a:r>
          </a:p>
        </p:txBody>
      </p:sp>
    </p:spTree>
    <p:extLst>
      <p:ext uri="{BB962C8B-B14F-4D97-AF65-F5344CB8AC3E}">
        <p14:creationId xmlns:p14="http://schemas.microsoft.com/office/powerpoint/2010/main" val="10774505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10487FB2-A6E4-3361-DCCE-10A18134532B}"/>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F36EAD73-6ACD-FAFD-A9EB-B93C815EA27E}"/>
              </a:ext>
            </a:extLst>
          </p:cNvPr>
          <p:cNvSpPr txBox="1">
            <a:spLocks noGrp="1"/>
          </p:cNvSpPr>
          <p:nvPr>
            <p:ph type="title"/>
          </p:nvPr>
        </p:nvSpPr>
        <p:spPr>
          <a:xfrm>
            <a:off x="0" y="14944"/>
            <a:ext cx="12192000" cy="814789"/>
          </a:xfrm>
          <a:prstGeom prst="rect">
            <a:avLst/>
          </a:prstGeom>
          <a:noFill/>
          <a:ln>
            <a:noFill/>
          </a:ln>
        </p:spPr>
        <p:txBody>
          <a:bodyPr spcFirstLastPara="1" wrap="square" lIns="91425" tIns="45700" rIns="91425" bIns="45700" anchor="ctr" anchorCtr="0">
            <a:normAutofit/>
          </a:bodyPr>
          <a:lstStyle/>
          <a:p>
            <a:pPr lvl="0" algn="ctr">
              <a:buClr>
                <a:srgbClr val="FF0000"/>
              </a:buClr>
              <a:buSzPts val="4400"/>
            </a:pPr>
            <a:r>
              <a:rPr lang="en-IN" sz="3800" b="1" dirty="0">
                <a:solidFill>
                  <a:srgbClr val="FF0000"/>
                </a:solidFill>
                <a:latin typeface="Times New Roman" panose="02020603050405020304" pitchFamily="18" charset="0"/>
                <a:cs typeface="Times New Roman" panose="02020603050405020304" pitchFamily="18" charset="0"/>
              </a:rPr>
              <a:t>Global Comparisons</a:t>
            </a:r>
            <a:endParaRPr sz="3800" b="1" dirty="0">
              <a:solidFill>
                <a:srgbClr val="FF0000"/>
              </a:solidFill>
              <a:latin typeface="Times New Roman" panose="02020603050405020304" pitchFamily="18" charset="0"/>
              <a:cs typeface="Times New Roman" panose="02020603050405020304" pitchFamily="18" charset="0"/>
            </a:endParaRPr>
          </a:p>
        </p:txBody>
      </p:sp>
      <p:sp>
        <p:nvSpPr>
          <p:cNvPr id="111" name="Google Shape;111;p4">
            <a:extLst>
              <a:ext uri="{FF2B5EF4-FFF2-40B4-BE49-F238E27FC236}">
                <a16:creationId xmlns:a16="http://schemas.microsoft.com/office/drawing/2014/main" id="{D71B8977-B9E4-0711-BDE1-5009777AA639}"/>
              </a:ext>
            </a:extLst>
          </p:cNvPr>
          <p:cNvSpPr txBox="1">
            <a:spLocks noGrp="1"/>
          </p:cNvSpPr>
          <p:nvPr>
            <p:ph type="body" idx="1"/>
          </p:nvPr>
        </p:nvSpPr>
        <p:spPr>
          <a:xfrm>
            <a:off x="321734" y="787140"/>
            <a:ext cx="10752666" cy="753534"/>
          </a:xfrm>
          <a:prstGeom prst="rect">
            <a:avLst/>
          </a:prstGeom>
          <a:noFill/>
          <a:ln>
            <a:noFill/>
          </a:ln>
        </p:spPr>
        <p:txBody>
          <a:bodyPr spcFirstLastPara="1" wrap="square" lIns="91425" tIns="45700" rIns="91425" bIns="45700" anchor="t" anchorCtr="0">
            <a:noAutofit/>
          </a:bodyPr>
          <a:lstStyle/>
          <a:p>
            <a:pPr marL="114300" indent="0" algn="just">
              <a:lnSpc>
                <a:spcPct val="100000"/>
              </a:lnSpc>
              <a:buNone/>
            </a:pPr>
            <a:r>
              <a:rPr lang="en-US" sz="2200" b="1" i="1" dirty="0">
                <a:latin typeface="Times New Roman" panose="02020603050405020304" pitchFamily="18" charset="0"/>
                <a:cs typeface="Times New Roman" panose="02020603050405020304" pitchFamily="18" charset="0"/>
              </a:rPr>
              <a:t>1. What are the top 10 countries by population and how do their emissions compare?</a:t>
            </a:r>
          </a:p>
        </p:txBody>
      </p:sp>
      <p:pic>
        <p:nvPicPr>
          <p:cNvPr id="6" name="Picture 5">
            <a:extLst>
              <a:ext uri="{FF2B5EF4-FFF2-40B4-BE49-F238E27FC236}">
                <a16:creationId xmlns:a16="http://schemas.microsoft.com/office/drawing/2014/main" id="{5CE592CB-6144-4E8C-EC5A-42C36C9F3691}"/>
              </a:ext>
            </a:extLst>
          </p:cNvPr>
          <p:cNvPicPr>
            <a:picLocks noChangeAspect="1"/>
          </p:cNvPicPr>
          <p:nvPr/>
        </p:nvPicPr>
        <p:blipFill>
          <a:blip r:embed="rId3"/>
          <a:srcRect/>
          <a:stretch/>
        </p:blipFill>
        <p:spPr>
          <a:xfrm>
            <a:off x="948267" y="1540674"/>
            <a:ext cx="6069691" cy="2184141"/>
          </a:xfrm>
          <a:prstGeom prst="rect">
            <a:avLst/>
          </a:prstGeom>
        </p:spPr>
      </p:pic>
      <p:pic>
        <p:nvPicPr>
          <p:cNvPr id="8" name="Picture 7">
            <a:extLst>
              <a:ext uri="{FF2B5EF4-FFF2-40B4-BE49-F238E27FC236}">
                <a16:creationId xmlns:a16="http://schemas.microsoft.com/office/drawing/2014/main" id="{072BB526-6F48-16B5-728D-80465618FB06}"/>
              </a:ext>
            </a:extLst>
          </p:cNvPr>
          <p:cNvPicPr>
            <a:picLocks noChangeAspect="1"/>
          </p:cNvPicPr>
          <p:nvPr/>
        </p:nvPicPr>
        <p:blipFill>
          <a:blip r:embed="rId4"/>
          <a:srcRect/>
          <a:stretch/>
        </p:blipFill>
        <p:spPr>
          <a:xfrm>
            <a:off x="7644491" y="1540673"/>
            <a:ext cx="2998566" cy="2184141"/>
          </a:xfrm>
          <a:prstGeom prst="rect">
            <a:avLst/>
          </a:prstGeom>
        </p:spPr>
      </p:pic>
      <p:sp>
        <p:nvSpPr>
          <p:cNvPr id="10" name="Google Shape;111;p4">
            <a:extLst>
              <a:ext uri="{FF2B5EF4-FFF2-40B4-BE49-F238E27FC236}">
                <a16:creationId xmlns:a16="http://schemas.microsoft.com/office/drawing/2014/main" id="{3C32BD06-4AD7-7F3E-85B7-8CCC2F663F9E}"/>
              </a:ext>
            </a:extLst>
          </p:cNvPr>
          <p:cNvSpPr txBox="1">
            <a:spLocks/>
          </p:cNvSpPr>
          <p:nvPr/>
        </p:nvSpPr>
        <p:spPr>
          <a:xfrm>
            <a:off x="389466" y="3724814"/>
            <a:ext cx="11201399" cy="294191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lgn="just">
              <a:lnSpc>
                <a:spcPct val="100000"/>
              </a:lnSpc>
            </a:pPr>
            <a:r>
              <a:rPr lang="en-US" sz="2200" dirty="0">
                <a:latin typeface="Times New Roman" panose="02020603050405020304" pitchFamily="18" charset="0"/>
                <a:cs typeface="Times New Roman" panose="02020603050405020304" pitchFamily="18" charset="0"/>
              </a:rPr>
              <a:t>The query selects the top 10 countries by population for the latest year, joins with emission data using LEFT JOIN, aggregates emissions using SUM(), and orders by population in descending order to compare both metrics.</a:t>
            </a:r>
          </a:p>
          <a:p>
            <a:pPr algn="just">
              <a:lnSpc>
                <a:spcPct val="100000"/>
              </a:lnSpc>
            </a:pPr>
            <a:r>
              <a:rPr lang="en-US" sz="2200" dirty="0">
                <a:latin typeface="Times New Roman" panose="02020603050405020304" pitchFamily="18" charset="0"/>
                <a:cs typeface="Times New Roman" panose="02020603050405020304" pitchFamily="18" charset="0"/>
              </a:rPr>
              <a:t>India and China have the highest populations, but China’s total emissions are significantly higher, showing population alone does not determine emission levels.</a:t>
            </a:r>
          </a:p>
          <a:p>
            <a:pPr algn="just">
              <a:lnSpc>
                <a:spcPct val="100000"/>
              </a:lnSpc>
            </a:pPr>
            <a:r>
              <a:rPr lang="en-US" sz="2200" dirty="0">
                <a:latin typeface="Times New Roman" panose="02020603050405020304" pitchFamily="18" charset="0"/>
                <a:cs typeface="Times New Roman" panose="02020603050405020304" pitchFamily="18" charset="0"/>
              </a:rPr>
              <a:t>The United States has lower population than India and China but still shows very high emissions due to industrial and energy consumption intensity.</a:t>
            </a:r>
          </a:p>
        </p:txBody>
      </p:sp>
    </p:spTree>
    <p:extLst>
      <p:ext uri="{BB962C8B-B14F-4D97-AF65-F5344CB8AC3E}">
        <p14:creationId xmlns:p14="http://schemas.microsoft.com/office/powerpoint/2010/main" val="15663920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1FB1C0AC-221B-3DCB-B2D2-9F8494966F73}"/>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3534152B-E7B7-5E2B-9EB7-4610F3A54B43}"/>
              </a:ext>
            </a:extLst>
          </p:cNvPr>
          <p:cNvSpPr txBox="1">
            <a:spLocks noGrp="1"/>
          </p:cNvSpPr>
          <p:nvPr>
            <p:ph type="body" idx="1"/>
          </p:nvPr>
        </p:nvSpPr>
        <p:spPr>
          <a:xfrm>
            <a:off x="470264" y="287867"/>
            <a:ext cx="11819467" cy="753534"/>
          </a:xfrm>
          <a:prstGeom prst="rect">
            <a:avLst/>
          </a:prstGeom>
          <a:noFill/>
          <a:ln>
            <a:noFill/>
          </a:ln>
        </p:spPr>
        <p:txBody>
          <a:bodyPr spcFirstLastPara="1" wrap="square" lIns="91425" tIns="45700" rIns="91425" bIns="45700" anchor="t" anchorCtr="0">
            <a:noAutofit/>
          </a:bodyPr>
          <a:lstStyle/>
          <a:p>
            <a:pPr marL="114300" indent="0" algn="just">
              <a:lnSpc>
                <a:spcPct val="100000"/>
              </a:lnSpc>
              <a:buNone/>
            </a:pPr>
            <a:r>
              <a:rPr lang="en-US" sz="2200" b="1" i="1" dirty="0">
                <a:latin typeface="Times New Roman" panose="02020603050405020304" pitchFamily="18" charset="0"/>
                <a:cs typeface="Times New Roman" panose="02020603050405020304" pitchFamily="18" charset="0"/>
              </a:rPr>
              <a:t>2. What is the global share (%) of emissions by country?</a:t>
            </a:r>
          </a:p>
        </p:txBody>
      </p:sp>
      <p:pic>
        <p:nvPicPr>
          <p:cNvPr id="6" name="Picture 5">
            <a:extLst>
              <a:ext uri="{FF2B5EF4-FFF2-40B4-BE49-F238E27FC236}">
                <a16:creationId xmlns:a16="http://schemas.microsoft.com/office/drawing/2014/main" id="{08776D9B-6558-DE85-EE86-893F5C0040F1}"/>
              </a:ext>
            </a:extLst>
          </p:cNvPr>
          <p:cNvPicPr>
            <a:picLocks noChangeAspect="1"/>
          </p:cNvPicPr>
          <p:nvPr/>
        </p:nvPicPr>
        <p:blipFill>
          <a:blip r:embed="rId3"/>
          <a:srcRect/>
          <a:stretch/>
        </p:blipFill>
        <p:spPr>
          <a:xfrm>
            <a:off x="832341" y="1440870"/>
            <a:ext cx="6440526" cy="1378529"/>
          </a:xfrm>
          <a:prstGeom prst="rect">
            <a:avLst/>
          </a:prstGeom>
        </p:spPr>
      </p:pic>
      <p:pic>
        <p:nvPicPr>
          <p:cNvPr id="8" name="Picture 7">
            <a:extLst>
              <a:ext uri="{FF2B5EF4-FFF2-40B4-BE49-F238E27FC236}">
                <a16:creationId xmlns:a16="http://schemas.microsoft.com/office/drawing/2014/main" id="{B85FC28E-3BA0-00CA-DE06-DF2F576ECA4C}"/>
              </a:ext>
            </a:extLst>
          </p:cNvPr>
          <p:cNvPicPr>
            <a:picLocks noChangeAspect="1"/>
          </p:cNvPicPr>
          <p:nvPr/>
        </p:nvPicPr>
        <p:blipFill>
          <a:blip r:embed="rId4"/>
          <a:srcRect/>
          <a:stretch/>
        </p:blipFill>
        <p:spPr>
          <a:xfrm>
            <a:off x="7755132" y="1041401"/>
            <a:ext cx="2379467" cy="2387599"/>
          </a:xfrm>
          <a:prstGeom prst="rect">
            <a:avLst/>
          </a:prstGeom>
        </p:spPr>
      </p:pic>
      <p:sp>
        <p:nvSpPr>
          <p:cNvPr id="10" name="Google Shape;111;p4">
            <a:extLst>
              <a:ext uri="{FF2B5EF4-FFF2-40B4-BE49-F238E27FC236}">
                <a16:creationId xmlns:a16="http://schemas.microsoft.com/office/drawing/2014/main" id="{0C67376B-2C4D-6AB6-B8BA-A2C8D57C5D7D}"/>
              </a:ext>
            </a:extLst>
          </p:cNvPr>
          <p:cNvSpPr txBox="1">
            <a:spLocks/>
          </p:cNvSpPr>
          <p:nvPr/>
        </p:nvSpPr>
        <p:spPr>
          <a:xfrm>
            <a:off x="470262" y="3522134"/>
            <a:ext cx="11251476" cy="283633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lgn="just">
              <a:lnSpc>
                <a:spcPct val="100000"/>
              </a:lnSpc>
            </a:pPr>
            <a:r>
              <a:rPr lang="en-US" sz="2200" dirty="0">
                <a:latin typeface="Times New Roman" panose="02020603050405020304" pitchFamily="18" charset="0"/>
                <a:cs typeface="Times New Roman" panose="02020603050405020304" pitchFamily="18" charset="0"/>
              </a:rPr>
              <a:t>The query calculates each country’s emission percentage by dividing its total emissions by the global total using a subquery, then groups by country and orders the results in descending order.</a:t>
            </a:r>
          </a:p>
          <a:p>
            <a:pPr algn="just">
              <a:lnSpc>
                <a:spcPct val="100000"/>
              </a:lnSpc>
            </a:pPr>
            <a:r>
              <a:rPr lang="en-US" sz="2200" dirty="0">
                <a:latin typeface="Times New Roman" panose="02020603050405020304" pitchFamily="18" charset="0"/>
                <a:cs typeface="Times New Roman" panose="02020603050405020304" pitchFamily="18" charset="0"/>
              </a:rPr>
              <a:t>China holds the largest global emission share at around 32%, followed by the United States and India, showing emissions are concentrated among major economies.</a:t>
            </a:r>
          </a:p>
          <a:p>
            <a:pPr algn="just">
              <a:lnSpc>
                <a:spcPct val="100000"/>
              </a:lnSpc>
            </a:pPr>
            <a:r>
              <a:rPr lang="en-US" sz="2200" dirty="0">
                <a:latin typeface="Times New Roman" panose="02020603050405020304" pitchFamily="18" charset="0"/>
                <a:cs typeface="Times New Roman" panose="02020603050405020304" pitchFamily="18" charset="0"/>
              </a:rPr>
              <a:t>A few countries contribute a significant portion of total global emissions, while many others have relatively smaller shares.</a:t>
            </a:r>
          </a:p>
        </p:txBody>
      </p:sp>
    </p:spTree>
    <p:extLst>
      <p:ext uri="{BB962C8B-B14F-4D97-AF65-F5344CB8AC3E}">
        <p14:creationId xmlns:p14="http://schemas.microsoft.com/office/powerpoint/2010/main" val="8231846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2D0B9233-2C50-E801-B21B-50D3E5A2B756}"/>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895F415C-1FBC-3808-FCC9-1E81FA3F2C84}"/>
              </a:ext>
            </a:extLst>
          </p:cNvPr>
          <p:cNvSpPr txBox="1">
            <a:spLocks noGrp="1"/>
          </p:cNvSpPr>
          <p:nvPr>
            <p:ph type="title"/>
          </p:nvPr>
        </p:nvSpPr>
        <p:spPr>
          <a:xfrm>
            <a:off x="0" y="14944"/>
            <a:ext cx="12192000" cy="814789"/>
          </a:xfrm>
          <a:prstGeom prst="rect">
            <a:avLst/>
          </a:prstGeom>
          <a:noFill/>
          <a:ln>
            <a:noFill/>
          </a:ln>
        </p:spPr>
        <p:txBody>
          <a:bodyPr spcFirstLastPara="1" wrap="square" lIns="91425" tIns="45700" rIns="91425" bIns="45700" anchor="ctr" anchorCtr="0">
            <a:normAutofit/>
          </a:bodyPr>
          <a:lstStyle/>
          <a:p>
            <a:pPr lvl="0" algn="ctr">
              <a:buClr>
                <a:srgbClr val="FF0000"/>
              </a:buClr>
              <a:buSzPts val="4400"/>
            </a:pPr>
            <a:r>
              <a:rPr lang="en-IN" sz="3800" b="1" dirty="0">
                <a:solidFill>
                  <a:srgbClr val="FF0000"/>
                </a:solidFill>
                <a:latin typeface="Times New Roman" panose="02020603050405020304" pitchFamily="18" charset="0"/>
                <a:cs typeface="Times New Roman" panose="02020603050405020304" pitchFamily="18" charset="0"/>
              </a:rPr>
              <a:t>Recommendations</a:t>
            </a:r>
            <a:endParaRPr sz="3800" b="1" dirty="0">
              <a:solidFill>
                <a:srgbClr val="FF0000"/>
              </a:solidFill>
              <a:latin typeface="Times New Roman" panose="02020603050405020304" pitchFamily="18" charset="0"/>
              <a:cs typeface="Times New Roman" panose="02020603050405020304" pitchFamily="18" charset="0"/>
            </a:endParaRPr>
          </a:p>
        </p:txBody>
      </p:sp>
      <p:sp>
        <p:nvSpPr>
          <p:cNvPr id="111" name="Google Shape;111;p4">
            <a:extLst>
              <a:ext uri="{FF2B5EF4-FFF2-40B4-BE49-F238E27FC236}">
                <a16:creationId xmlns:a16="http://schemas.microsoft.com/office/drawing/2014/main" id="{8D6D5911-76C0-F3C5-7348-DB55A412E9FF}"/>
              </a:ext>
            </a:extLst>
          </p:cNvPr>
          <p:cNvSpPr txBox="1">
            <a:spLocks noGrp="1"/>
          </p:cNvSpPr>
          <p:nvPr>
            <p:ph type="body" idx="1"/>
          </p:nvPr>
        </p:nvSpPr>
        <p:spPr>
          <a:xfrm>
            <a:off x="228600" y="829733"/>
            <a:ext cx="11556999" cy="5036673"/>
          </a:xfrm>
          <a:prstGeom prst="rect">
            <a:avLst/>
          </a:prstGeom>
          <a:noFill/>
          <a:ln>
            <a:noFill/>
          </a:ln>
        </p:spPr>
        <p:txBody>
          <a:bodyPr spcFirstLastPara="1" wrap="square" lIns="91425" tIns="45700" rIns="91425" bIns="45700" anchor="t" anchorCtr="0">
            <a:noAutofit/>
          </a:bodyPr>
          <a:lstStyle/>
          <a:p>
            <a:pPr algn="just">
              <a:lnSpc>
                <a:spcPct val="100000"/>
              </a:lnSpc>
            </a:pPr>
            <a:r>
              <a:rPr lang="en-US" sz="2200" dirty="0">
                <a:latin typeface="Times New Roman" panose="02020603050405020304" pitchFamily="18" charset="0"/>
                <a:cs typeface="Times New Roman" panose="02020603050405020304" pitchFamily="18" charset="0"/>
              </a:rPr>
              <a:t>Countries should reduce dependence on coal and fossil fuels and increase investment in renewable energy sources to lower emissions.</a:t>
            </a:r>
          </a:p>
          <a:p>
            <a:pPr algn="just">
              <a:lnSpc>
                <a:spcPct val="100000"/>
              </a:lnSpc>
            </a:pPr>
            <a:r>
              <a:rPr lang="en-US" sz="2200" dirty="0">
                <a:latin typeface="Times New Roman" panose="02020603050405020304" pitchFamily="18" charset="0"/>
                <a:cs typeface="Times New Roman" panose="02020603050405020304" pitchFamily="18" charset="0"/>
              </a:rPr>
              <a:t>Major economies with high emission shares should implement stricter carbon regulations and adopt cleaner technologies.</a:t>
            </a:r>
          </a:p>
          <a:p>
            <a:pPr algn="just">
              <a:lnSpc>
                <a:spcPct val="100000"/>
              </a:lnSpc>
            </a:pPr>
            <a:r>
              <a:rPr lang="en-US" sz="2200" dirty="0">
                <a:latin typeface="Times New Roman" panose="02020603050405020304" pitchFamily="18" charset="0"/>
                <a:cs typeface="Times New Roman" panose="02020603050405020304" pitchFamily="18" charset="0"/>
              </a:rPr>
              <a:t>Governments should improve energy efficiency to reduce energy consumption relative to GDP.</a:t>
            </a:r>
          </a:p>
          <a:p>
            <a:pPr algn="just">
              <a:lnSpc>
                <a:spcPct val="100000"/>
              </a:lnSpc>
            </a:pPr>
            <a:r>
              <a:rPr lang="en-US" sz="2200" dirty="0">
                <a:latin typeface="Times New Roman" panose="02020603050405020304" pitchFamily="18" charset="0"/>
                <a:cs typeface="Times New Roman" panose="02020603050405020304" pitchFamily="18" charset="0"/>
              </a:rPr>
              <a:t>Population-heavy countries must focus on sustainable urban planning and energy-efficient infrastructure.</a:t>
            </a:r>
          </a:p>
          <a:p>
            <a:pPr algn="just">
              <a:lnSpc>
                <a:spcPct val="100000"/>
              </a:lnSpc>
            </a:pPr>
            <a:r>
              <a:rPr lang="en-US" sz="2200" dirty="0">
                <a:latin typeface="Times New Roman" panose="02020603050405020304" pitchFamily="18" charset="0"/>
                <a:cs typeface="Times New Roman" panose="02020603050405020304" pitchFamily="18" charset="0"/>
              </a:rPr>
              <a:t>Policymakers should promote green energy incentives and carbon taxation to encourage environmental responsibility.</a:t>
            </a:r>
          </a:p>
          <a:p>
            <a:pPr algn="just">
              <a:lnSpc>
                <a:spcPct val="100000"/>
              </a:lnSpc>
            </a:pPr>
            <a:r>
              <a:rPr lang="en-US" sz="2200" dirty="0">
                <a:latin typeface="Times New Roman" panose="02020603050405020304" pitchFamily="18" charset="0"/>
                <a:cs typeface="Times New Roman" panose="02020603050405020304" pitchFamily="18" charset="0"/>
              </a:rPr>
              <a:t>International collaboration is necessary to control global emissions and achieve long-term climate sustainability goals.</a:t>
            </a:r>
          </a:p>
        </p:txBody>
      </p:sp>
    </p:spTree>
    <p:extLst>
      <p:ext uri="{BB962C8B-B14F-4D97-AF65-F5344CB8AC3E}">
        <p14:creationId xmlns:p14="http://schemas.microsoft.com/office/powerpoint/2010/main" val="40078226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F327828B-35F0-07C5-462D-113787CF780B}"/>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21369E9C-9DC5-06D9-176D-904D5B9F92EE}"/>
              </a:ext>
            </a:extLst>
          </p:cNvPr>
          <p:cNvSpPr txBox="1">
            <a:spLocks noGrp="1"/>
          </p:cNvSpPr>
          <p:nvPr>
            <p:ph type="title"/>
          </p:nvPr>
        </p:nvSpPr>
        <p:spPr>
          <a:xfrm>
            <a:off x="0" y="14944"/>
            <a:ext cx="12192000" cy="814789"/>
          </a:xfrm>
          <a:prstGeom prst="rect">
            <a:avLst/>
          </a:prstGeom>
          <a:noFill/>
          <a:ln>
            <a:noFill/>
          </a:ln>
        </p:spPr>
        <p:txBody>
          <a:bodyPr spcFirstLastPara="1" wrap="square" lIns="91425" tIns="45700" rIns="91425" bIns="45700" anchor="ctr" anchorCtr="0">
            <a:normAutofit/>
          </a:bodyPr>
          <a:lstStyle/>
          <a:p>
            <a:pPr lvl="0" algn="ctr">
              <a:buClr>
                <a:srgbClr val="FF0000"/>
              </a:buClr>
              <a:buSzPts val="4400"/>
            </a:pPr>
            <a:r>
              <a:rPr lang="en-IN" sz="3800" b="1" dirty="0">
                <a:solidFill>
                  <a:srgbClr val="FF0000"/>
                </a:solidFill>
                <a:latin typeface="Times New Roman" panose="02020603050405020304" pitchFamily="18" charset="0"/>
                <a:cs typeface="Times New Roman" panose="02020603050405020304" pitchFamily="18" charset="0"/>
              </a:rPr>
              <a:t>Conclusion</a:t>
            </a:r>
            <a:endParaRPr sz="3800" b="1" dirty="0">
              <a:solidFill>
                <a:srgbClr val="FF0000"/>
              </a:solidFill>
              <a:latin typeface="Times New Roman" panose="02020603050405020304" pitchFamily="18" charset="0"/>
              <a:cs typeface="Times New Roman" panose="02020603050405020304" pitchFamily="18" charset="0"/>
            </a:endParaRPr>
          </a:p>
        </p:txBody>
      </p:sp>
      <p:sp>
        <p:nvSpPr>
          <p:cNvPr id="111" name="Google Shape;111;p4">
            <a:extLst>
              <a:ext uri="{FF2B5EF4-FFF2-40B4-BE49-F238E27FC236}">
                <a16:creationId xmlns:a16="http://schemas.microsoft.com/office/drawing/2014/main" id="{1CF9E294-86C6-7BB3-3642-E2E1115394E8}"/>
              </a:ext>
            </a:extLst>
          </p:cNvPr>
          <p:cNvSpPr txBox="1">
            <a:spLocks noGrp="1"/>
          </p:cNvSpPr>
          <p:nvPr>
            <p:ph type="body" idx="1"/>
          </p:nvPr>
        </p:nvSpPr>
        <p:spPr>
          <a:xfrm>
            <a:off x="330200" y="829733"/>
            <a:ext cx="11531600" cy="4922870"/>
          </a:xfrm>
          <a:prstGeom prst="rect">
            <a:avLst/>
          </a:prstGeom>
          <a:noFill/>
          <a:ln>
            <a:noFill/>
          </a:ln>
        </p:spPr>
        <p:txBody>
          <a:bodyPr spcFirstLastPara="1" wrap="square" lIns="91425" tIns="45700" rIns="91425" bIns="45700" anchor="t" anchorCtr="0">
            <a:noAutofit/>
          </a:bodyPr>
          <a:lstStyle/>
          <a:p>
            <a:pPr algn="just">
              <a:lnSpc>
                <a:spcPct val="100000"/>
              </a:lnSpc>
            </a:pPr>
            <a:r>
              <a:rPr lang="en-US" sz="2200" dirty="0">
                <a:latin typeface="Times New Roman" panose="02020603050405020304" pitchFamily="18" charset="0"/>
                <a:cs typeface="Times New Roman" panose="02020603050405020304" pitchFamily="18" charset="0"/>
              </a:rPr>
              <a:t>The analysis shows a strong relationship between economic growth, energy consumption, and carbon emissions across countries.</a:t>
            </a:r>
          </a:p>
          <a:p>
            <a:pPr algn="just">
              <a:lnSpc>
                <a:spcPct val="100000"/>
              </a:lnSpc>
            </a:pPr>
            <a:r>
              <a:rPr lang="en-US" sz="2200" dirty="0">
                <a:latin typeface="Times New Roman" panose="02020603050405020304" pitchFamily="18" charset="0"/>
                <a:cs typeface="Times New Roman" panose="02020603050405020304" pitchFamily="18" charset="0"/>
              </a:rPr>
              <a:t>Major economies contribute the highest share of global emissions due to large-scale industrial and energy activities.</a:t>
            </a:r>
          </a:p>
          <a:p>
            <a:pPr algn="just">
              <a:lnSpc>
                <a:spcPct val="100000"/>
              </a:lnSpc>
            </a:pPr>
            <a:r>
              <a:rPr lang="en-US" sz="2200" dirty="0">
                <a:latin typeface="Times New Roman" panose="02020603050405020304" pitchFamily="18" charset="0"/>
                <a:cs typeface="Times New Roman" panose="02020603050405020304" pitchFamily="18" charset="0"/>
              </a:rPr>
              <a:t>Fossil fuels, especially coal, remain the dominant source of global emissions.</a:t>
            </a:r>
          </a:p>
          <a:p>
            <a:pPr algn="just">
              <a:lnSpc>
                <a:spcPct val="100000"/>
              </a:lnSpc>
            </a:pPr>
            <a:r>
              <a:rPr lang="en-US" sz="2200" dirty="0">
                <a:latin typeface="Times New Roman" panose="02020603050405020304" pitchFamily="18" charset="0"/>
                <a:cs typeface="Times New Roman" panose="02020603050405020304" pitchFamily="18" charset="0"/>
              </a:rPr>
              <a:t>Energy consumption has generally increased over the years, aligning with GDP growth trends.</a:t>
            </a:r>
          </a:p>
          <a:p>
            <a:pPr algn="just">
              <a:lnSpc>
                <a:spcPct val="100000"/>
              </a:lnSpc>
            </a:pPr>
            <a:r>
              <a:rPr lang="en-US" sz="2200" dirty="0">
                <a:latin typeface="Times New Roman" panose="02020603050405020304" pitchFamily="18" charset="0"/>
                <a:cs typeface="Times New Roman" panose="02020603050405020304" pitchFamily="18" charset="0"/>
              </a:rPr>
              <a:t>Population size alone does not determine emissions; economic intensity and energy sources play a bigger role.</a:t>
            </a:r>
          </a:p>
          <a:p>
            <a:pPr algn="just">
              <a:lnSpc>
                <a:spcPct val="100000"/>
              </a:lnSpc>
            </a:pPr>
            <a:r>
              <a:rPr lang="en-US" sz="2200" dirty="0">
                <a:latin typeface="Times New Roman" panose="02020603050405020304" pitchFamily="18" charset="0"/>
                <a:cs typeface="Times New Roman" panose="02020603050405020304" pitchFamily="18" charset="0"/>
              </a:rPr>
              <a:t>Sustainable energy transitions and improved energy efficiency are essential for balancing economic development with environmental protection.</a:t>
            </a:r>
          </a:p>
        </p:txBody>
      </p:sp>
    </p:spTree>
    <p:extLst>
      <p:ext uri="{BB962C8B-B14F-4D97-AF65-F5344CB8AC3E}">
        <p14:creationId xmlns:p14="http://schemas.microsoft.com/office/powerpoint/2010/main" val="8301473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3B2A47B8-94F9-692C-9EFA-7B4CDE8B8BB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27C809F-0ADF-33A8-2567-8FE86FFCB807}"/>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20296479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2011841"/>
            <a:ext cx="4465643" cy="2834317"/>
          </a:xfrm>
          <a:prstGeom prst="rect">
            <a:avLst/>
          </a:prstGeom>
          <a:noFill/>
          <a:ln>
            <a:noFill/>
          </a:ln>
        </p:spPr>
      </p:pic>
      <p:sp>
        <p:nvSpPr>
          <p:cNvPr id="117" name="Google Shape;117;p5"/>
          <p:cNvSpPr txBox="1"/>
          <p:nvPr/>
        </p:nvSpPr>
        <p:spPr>
          <a:xfrm>
            <a:off x="1259841" y="2698161"/>
            <a:ext cx="3661836" cy="146167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dirty="0">
                <a:solidFill>
                  <a:srgbClr val="C00000"/>
                </a:solidFill>
                <a:latin typeface="Libre Baskerville"/>
                <a:ea typeface="Libre Baskerville"/>
                <a:cs typeface="Libre Baskerville"/>
                <a:sym typeface="Libre Baskerville"/>
              </a:rPr>
              <a:t>THANK YOU</a:t>
            </a:r>
            <a:endParaRPr sz="1800" b="0" i="0" u="none" strike="noStrike" cap="none" dirty="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2220</TotalTime>
  <Words>1201</Words>
  <Application>Microsoft Office PowerPoint</Application>
  <PresentationFormat>Widescreen</PresentationFormat>
  <Paragraphs>85</Paragraphs>
  <Slides>17</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Times New Roman</vt:lpstr>
      <vt:lpstr>Libre Baskerville</vt:lpstr>
      <vt:lpstr>Office Theme</vt:lpstr>
      <vt:lpstr>PowerPoint Presentation</vt:lpstr>
      <vt:lpstr>Agenda</vt:lpstr>
      <vt:lpstr>Business Problem</vt:lpstr>
      <vt:lpstr>Objective</vt:lpstr>
      <vt:lpstr>Entity Relationship Structure</vt:lpstr>
      <vt:lpstr>General &amp; Comparative Analysis</vt:lpstr>
      <vt:lpstr>PowerPoint Presentation</vt:lpstr>
      <vt:lpstr>Trend Analysis Over Time</vt:lpstr>
      <vt:lpstr>PowerPoint Presentation</vt:lpstr>
      <vt:lpstr>Ratio &amp; Per Capita Analysis</vt:lpstr>
      <vt:lpstr>PowerPoint Presentation</vt:lpstr>
      <vt:lpstr>Global Comparisons</vt:lpstr>
      <vt:lpstr>PowerPoint Presentation</vt:lpstr>
      <vt:lpstr>Recommendations</vt:lpstr>
      <vt:lpstr>Conclusion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Mamidi Rakesh</cp:lastModifiedBy>
  <cp:revision>37</cp:revision>
  <dcterms:created xsi:type="dcterms:W3CDTF">2021-02-16T05:19:01Z</dcterms:created>
  <dcterms:modified xsi:type="dcterms:W3CDTF">2026-02-14T06:26:53Z</dcterms:modified>
</cp:coreProperties>
</file>